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4d005d6b-938d-6443-43f5-de77b5234b9e}">
          <p14:sldIdLst>
            <p14:sldId id="256"/>
          </p14:sldIdLst>
        </p14:section>
        <p14:section name="Paciente y objetos" id="{2cae3043-7ef3-7a3e-9330-53445329d65a}">
          <p14:sldIdLst>
            <p14:sldId id="257"/>
          </p14:sldIdLst>
        </p14:section>
        <p14:section name="Criterios" id="{93bebd96-76e0-59ea-4f1d-7d09f6f47cf3}">
          <p14:sldIdLst>
            <p14:sldId id="258"/>
            <p14:sldId id="259"/>
          </p14:sldIdLst>
        </p14:section>
        <p14:section name="Implementacion" id="{a8c95da1-607c-3295-1c91-709cded0341a}">
          <p14:sldIdLst>
            <p14:sldId id="260"/>
            <p14:sldId id="261"/>
          </p14:sldIdLst>
        </p14:section>
        <p14:section name="Validacion" id="{1136a7bc-3ec9-817a-9a14-9d543799e8f9}">
          <p14:sldIdLst>
            <p14:sldId id="262"/>
          </p14:sldIdLst>
        </p14:section>
        <p14:section name="Cierre" id="{b317b2a8-5966-cee8-5cdf-059709d1817d}">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Soy Luis David Arroyo Anaya, estudiante de la Maestría en Patología de la Construcción de la Universidad Santo Tomás. Presento la Actividad 3 de BIM Parametrización, aplicada a la Casa Campestre P-892022, en Turbaco, Bolívar.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paciente es una vivienda de dos niveles en ladera, con pórticos de concreto y cubierta en perfilería PHR. Trabajé cuatro objetos que forman la cadena de carga: la correa recibe la cubierta, la columna baja la carga, la viga de cimentación amarra las zapatas y la zapata la entrega al suelo. Cada objeto tiene su propio color en 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estrategia común se basa en cinco parámetros compartidos con el prefijo PAC: código, material, resistencia, nivel y clasificación IFC. Al ser compartidos y vinculados al proyecto, tienen el mismo identificador en todos los objetos. El código y el nivel son de instancia, porque cambian pieza a pieza; los demás son de tipo.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Además, cada objeto tiene máximo tres parámetros particulares, guardados dentro de su propia familia. Así la viga de cimentación y la correa, que están en la misma categoría, no mezclan su información. La norma NSR-10 quedó una sola vez, en la información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relación paramétrica está en la zapata: el volumen de concreto es igual al lado, por el lado, por el espesor. El lado también controla la geometría. Si cambio el lado de la zapata Z-T1 de 1,30 a 1,50 metros, la zapata crece y su volumen pasa de 0,59 a 0,79 metros cúbicos.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Revit, los parámetros comunes aparecen en los parámetros del proyecto, y los particulares en las propiedades de cada elemento, como la altura libre de las columnas, que es de instancia.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validación se hace con un solo Schedule multicategoría. Allí se comprueba que los cinco parámetros comunes están llenos en todos los elementos, y los conteos coinciden con la matriz: diecinueve zapatas, diecinueve columnas y 13,7 metros cúbicos de concreto en zapatas.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conclusión, una sola matriz, un solo archivo de parámetros compartidos y un solo Schedule permiten que la información del paciente sea consistente y sin duplicados.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F2A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03504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383280"/>
            <a:ext cx="6035040" cy="21945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10241280" cy="320040"/>
          </a:xfrm>
          <a:prstGeom prst="rect">
            <a:avLst/>
          </a:prstGeom>
          <a:noFill/>
          <a:ln/>
        </p:spPr>
        <p:txBody>
          <a:bodyPr wrap="square" rtlCol="0" anchor="ctr"/>
          <a:lstStyle/>
          <a:p>
            <a:pPr indent="0" marL="0">
              <a:buNone/>
            </a:pPr>
            <a:r>
              <a:rPr lang="en-US" sz="1000" dirty="0">
                <a:solidFill>
                  <a:schemeClr val="tx2"/>
                </a:solidFill>
              </a:rPr>
              <a:t>Luis David Arroyo Anaya · Maestría en Patología de la Construcción · Facultad de Ingeniería Civil · Universidad Santo Tomás</a:t>
            </a:r>
            <a:endParaRPr lang="en-US" sz="10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035040" cy="1737360"/>
          </a:xfrm>
          <a:prstGeom prst="rect">
            <a:avLst/>
          </a:prstGeom>
          <a:noFill/>
          <a:ln/>
        </p:spPr>
        <p:txBody>
          <a:bodyPr wrap="square" rtlCol="0" anchor="b"/>
          <a:lstStyle/>
          <a:p>
            <a:pPr algn="l" indent="0" marL="0">
              <a:buNone/>
            </a:pPr>
            <a:r>
              <a:rPr lang="en-US" sz="4000" b="1" dirty="0">
                <a:solidFill>
                  <a:schemeClr val="bg1"/>
                </a:solidFill>
              </a:rPr>
              <a:t>Actividad 3 · BIM Parametrización</a:t>
            </a:r>
            <a:endParaRPr lang="en-US" sz="4000" dirty="0"/>
          </a:p>
        </p:txBody>
      </p:sp>
      <p:sp>
        <p:nvSpPr>
          <p:cNvPr id="3" name="Text 0"/>
          <p:cNvSpPr/>
          <p:nvPr>
            <p:ph idx="101" type="body" hasCustomPrompt="1"/>
          </p:nvPr>
        </p:nvSpPr>
        <p:spPr>
          <a:xfrm>
            <a:off x="640080" y="3383280"/>
            <a:ext cx="6035040" cy="2194560"/>
          </a:xfrm>
          <a:prstGeom prst="rect">
            <a:avLst/>
          </a:prstGeom>
          <a:noFill/>
          <a:ln/>
        </p:spPr>
        <p:txBody>
          <a:bodyPr wrap="square" rtlCol="0" anchor="t"/>
          <a:lstStyle/>
          <a:p>
            <a:pPr indent="0" marL="0">
              <a:buNone/>
            </a:pPr>
            <a:r>
              <a:rPr lang="en-US" sz="1600" dirty="0">
                <a:solidFill>
                  <a:schemeClr val="bg2"/>
                </a:solidFill>
              </a:rPr>
              <a:t>Paciente: Casa Campestre P-892022 · Cañaveral, Turbaco (Bolívar)</a:t>
            </a:r>
            <a:endParaRPr lang="en-US" sz="1600" dirty="0"/>
          </a:p>
          <a:p>
            <a:pPr indent="0" marL="0">
              <a:buNone/>
            </a:pPr>
            <a:r>
              <a:rPr lang="en-US" sz="1600" dirty="0">
                <a:solidFill>
                  <a:schemeClr val="bg2"/>
                </a:solidFill>
              </a:rPr>
              <a:t> </a:t>
            </a:r>
            <a:endParaRPr lang="en-US" sz="1600" dirty="0"/>
          </a:p>
          <a:p>
            <a:pPr indent="0" marL="0">
              <a:buNone/>
            </a:pPr>
            <a:r>
              <a:rPr lang="en-US" sz="1600" b="1" dirty="0">
                <a:solidFill>
                  <a:schemeClr val="bg2"/>
                </a:solidFill>
              </a:rPr>
              <a:t>Luis David Arroyo Anaya</a:t>
            </a:r>
            <a:endParaRPr lang="en-US" sz="1600" dirty="0"/>
          </a:p>
          <a:p>
            <a:pPr indent="0" marL="0">
              <a:buNone/>
            </a:pPr>
            <a:r>
              <a:rPr lang="en-US" sz="1600" dirty="0">
                <a:solidFill>
                  <a:schemeClr val="bg2"/>
                </a:solidFill>
              </a:rPr>
              <a:t>Maestría en Patología de la Construcción</a:t>
            </a:r>
            <a:endParaRPr lang="en-US" sz="1600" dirty="0"/>
          </a:p>
          <a:p>
            <a:pPr indent="0" marL="0">
              <a:buNone/>
            </a:pPr>
            <a:r>
              <a:rPr lang="en-US" sz="1600" dirty="0">
                <a:solidFill>
                  <a:schemeClr val="bg2"/>
                </a:solidFill>
              </a:rPr>
              <a:t>Facultad de Ingeniería Civil · Universidad Santo Tomás</a:t>
            </a:r>
            <a:endParaRPr lang="en-US" sz="1600" dirty="0"/>
          </a:p>
        </p:txBody>
      </p:sp>
      <p:sp>
        <p:nvSpPr>
          <p:cNvPr id="4" name="marco"/>
          <p:cNvSpPr/>
          <p:nvPr/>
        </p:nvSpPr>
        <p:spPr>
          <a:xfrm>
            <a:off x="6949440" y="731520"/>
            <a:ext cx="4754880" cy="5029200"/>
          </a:xfrm>
          <a:prstGeom prst="roundRect">
            <a:avLst>
              <a:gd name="adj" fmla="val 2885"/>
            </a:avLst>
          </a:prstGeom>
          <a:solidFill>
            <a:srgbClr val="FFFFFF"/>
          </a:solidFill>
          <a:ln w="12700">
            <a:solidFill>
              <a:srgbClr val="37474F"/>
            </a:solidFill>
            <a:prstDash val="solid"/>
          </a:ln>
        </p:spPr>
      </p:sp>
      <p:pic>
        <p:nvPicPr>
          <p:cNvPr id="5" name="Image 0" descr="Modelo BIM del paciente – colores por objeto">    </p:cNvPr>
          <p:cNvPicPr>
            <a:picLocks noChangeAspect="1"/>
          </p:cNvPicPr>
          <p:nvPr/>
        </p:nvPicPr>
        <p:blipFill>
          <a:blip r:embed="rId1"/>
          <a:stretch>
            <a:fillRect/>
          </a:stretch>
        </p:blipFill>
        <p:spPr>
          <a:xfrm>
            <a:off x="6949440" y="1274694"/>
            <a:ext cx="4754880" cy="3942851"/>
          </a:xfrm>
          <a:prstGeom prst="rect">
            <a:avLst/>
          </a:prstGeom>
        </p:spPr>
      </p:pic>
      <p:sp>
        <p:nvSpPr>
          <p:cNvPr id="6" name="Text 3"/>
          <p:cNvSpPr txBox="1"/>
          <p:nvPr/>
        </p:nvSpPr>
        <p:spPr>
          <a:xfrm>
            <a:off x="6949440" y="5806440"/>
            <a:ext cx="4754880" cy="320040"/>
          </a:xfrm>
          <a:prstGeom prst="rect">
            <a:avLst/>
          </a:prstGeom>
          <a:noFill/>
          <a:ln/>
        </p:spPr>
        <p:txBody>
          <a:bodyPr wrap="square" lIns="0" tIns="0" rIns="0" bIns="0" rtlCol="0" anchor="ctr"/>
          <a:lstStyle/>
          <a:p>
            <a:pPr algn="ctr" indent="0" marL="0">
              <a:buNone/>
            </a:pPr>
            <a:r>
              <a:rPr lang="en-US" sz="1100" i="1" dirty="0">
                <a:solidFill>
                  <a:schemeClr val="bg2"/>
                </a:solidFill>
              </a:rPr>
              <a:t>Modelo BIM del paciente – colores por objeto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Cuatro objetos, una cadena de carga</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0:15 – 0:40</a:t>
            </a:r>
            <a:endParaRPr lang="en-US" sz="1300" dirty="0"/>
          </a:p>
        </p:txBody>
      </p:sp>
      <p:sp>
        <p:nvSpPr>
          <p:cNvPr id="5" name="objeto1"/>
          <p:cNvSpPr/>
          <p:nvPr/>
        </p:nvSpPr>
        <p:spPr>
          <a:xfrm>
            <a:off x="548640" y="1417320"/>
            <a:ext cx="5120640" cy="914400"/>
          </a:xfrm>
          <a:prstGeom prst="roundRect">
            <a:avLst>
              <a:gd name="adj" fmla="val 12000"/>
            </a:avLst>
          </a:prstGeom>
          <a:solidFill>
            <a:schemeClr val="bg2"/>
          </a:solidFill>
          <a:ln/>
        </p:spPr>
      </p:sp>
      <p:sp>
        <p:nvSpPr>
          <p:cNvPr id="6" name="Shape 4"/>
          <p:cNvSpPr/>
          <p:nvPr/>
        </p:nvSpPr>
        <p:spPr>
          <a:xfrm>
            <a:off x="777240" y="1728216"/>
            <a:ext cx="292608" cy="292608"/>
          </a:xfrm>
          <a:prstGeom prst="ellipse">
            <a:avLst/>
          </a:prstGeom>
          <a:solidFill>
            <a:srgbClr val="D62728"/>
          </a:solidFill>
          <a:ln w="12700">
            <a:solidFill>
              <a:srgbClr val="D62728"/>
            </a:solidFill>
            <a:prstDash val="solid"/>
          </a:ln>
        </p:spPr>
      </p:sp>
      <p:sp>
        <p:nvSpPr>
          <p:cNvPr id="7" name="Text 5"/>
          <p:cNvSpPr txBox="1"/>
          <p:nvPr/>
        </p:nvSpPr>
        <p:spPr>
          <a:xfrm>
            <a:off x="1234440" y="1417320"/>
            <a:ext cx="4297680" cy="914400"/>
          </a:xfrm>
          <a:prstGeom prst="rect">
            <a:avLst/>
          </a:prstGeom>
          <a:noFill/>
          <a:ln/>
        </p:spPr>
        <p:txBody>
          <a:bodyPr wrap="square" rtlCol="0" anchor="ctr"/>
          <a:lstStyle/>
          <a:p>
            <a:pPr indent="0" marL="0">
              <a:buNone/>
            </a:pPr>
            <a:r>
              <a:rPr lang="en-US" sz="1700" b="1" dirty="0">
                <a:solidFill>
                  <a:schemeClr val="tx1"/>
                </a:solidFill>
              </a:rPr>
              <a:t>Correa PHR C 160x60x20</a:t>
            </a:r>
            <a:endParaRPr lang="en-US" sz="1700" dirty="0"/>
          </a:p>
          <a:p>
            <a:pPr indent="0" marL="0">
              <a:buNone/>
            </a:pPr>
            <a:r>
              <a:rPr lang="en-US" sz="1400" dirty="0">
                <a:solidFill>
                  <a:schemeClr val="tx2"/>
                </a:solidFill>
              </a:rPr>
              <a:t>Recibe la cubierta</a:t>
            </a:r>
            <a:endParaRPr lang="en-US" sz="1700" dirty="0"/>
          </a:p>
        </p:txBody>
      </p:sp>
      <p:sp>
        <p:nvSpPr>
          <p:cNvPr id="8" name="Text 6"/>
          <p:cNvSpPr txBox="1"/>
          <p:nvPr/>
        </p:nvSpPr>
        <p:spPr>
          <a:xfrm>
            <a:off x="2834640" y="2313432"/>
            <a:ext cx="548640" cy="274320"/>
          </a:xfrm>
          <a:prstGeom prst="rect">
            <a:avLst/>
          </a:prstGeom>
          <a:noFill/>
          <a:ln/>
        </p:spPr>
        <p:txBody>
          <a:bodyPr wrap="square" lIns="0" tIns="0" rIns="0" bIns="0" rtlCol="0" anchor="ctr"/>
          <a:lstStyle/>
          <a:p>
            <a:pPr algn="ctr" indent="0" marL="0">
              <a:buNone/>
            </a:pPr>
            <a:r>
              <a:rPr lang="en-US" sz="1200" dirty="0">
                <a:solidFill>
                  <a:schemeClr val="accent1"/>
                </a:solidFill>
              </a:rPr>
              <a:t>▼</a:t>
            </a:r>
            <a:endParaRPr lang="en-US" sz="1200" dirty="0"/>
          </a:p>
        </p:txBody>
      </p:sp>
      <p:sp>
        <p:nvSpPr>
          <p:cNvPr id="9" name="objeto2"/>
          <p:cNvSpPr/>
          <p:nvPr/>
        </p:nvSpPr>
        <p:spPr>
          <a:xfrm>
            <a:off x="548640" y="2560320"/>
            <a:ext cx="5120640" cy="914400"/>
          </a:xfrm>
          <a:prstGeom prst="roundRect">
            <a:avLst>
              <a:gd name="adj" fmla="val 12000"/>
            </a:avLst>
          </a:prstGeom>
          <a:solidFill>
            <a:schemeClr val="bg2"/>
          </a:solidFill>
          <a:ln/>
        </p:spPr>
      </p:sp>
      <p:sp>
        <p:nvSpPr>
          <p:cNvPr id="10" name="Shape 8"/>
          <p:cNvSpPr/>
          <p:nvPr/>
        </p:nvSpPr>
        <p:spPr>
          <a:xfrm>
            <a:off x="777240" y="2871216"/>
            <a:ext cx="292608" cy="292608"/>
          </a:xfrm>
          <a:prstGeom prst="ellipse">
            <a:avLst/>
          </a:prstGeom>
          <a:solidFill>
            <a:srgbClr val="1F77B4"/>
          </a:solidFill>
          <a:ln w="12700">
            <a:solidFill>
              <a:srgbClr val="1F77B4"/>
            </a:solidFill>
            <a:prstDash val="solid"/>
          </a:ln>
        </p:spPr>
      </p:sp>
      <p:sp>
        <p:nvSpPr>
          <p:cNvPr id="11" name="Text 9"/>
          <p:cNvSpPr txBox="1"/>
          <p:nvPr/>
        </p:nvSpPr>
        <p:spPr>
          <a:xfrm>
            <a:off x="1234440" y="2560320"/>
            <a:ext cx="4297680" cy="914400"/>
          </a:xfrm>
          <a:prstGeom prst="rect">
            <a:avLst/>
          </a:prstGeom>
          <a:noFill/>
          <a:ln/>
        </p:spPr>
        <p:txBody>
          <a:bodyPr wrap="square" rtlCol="0" anchor="ctr"/>
          <a:lstStyle/>
          <a:p>
            <a:pPr indent="0" marL="0">
              <a:buNone/>
            </a:pPr>
            <a:r>
              <a:rPr lang="en-US" sz="1700" b="1" dirty="0">
                <a:solidFill>
                  <a:schemeClr val="tx1"/>
                </a:solidFill>
              </a:rPr>
              <a:t>Columna de concreto</a:t>
            </a:r>
            <a:endParaRPr lang="en-US" sz="1700" dirty="0"/>
          </a:p>
          <a:p>
            <a:pPr indent="0" marL="0">
              <a:buNone/>
            </a:pPr>
            <a:r>
              <a:rPr lang="en-US" sz="1400" dirty="0">
                <a:solidFill>
                  <a:schemeClr val="tx2"/>
                </a:solidFill>
              </a:rPr>
              <a:t>Baja la carga (19 und.)</a:t>
            </a:r>
            <a:endParaRPr lang="en-US" sz="1700" dirty="0"/>
          </a:p>
        </p:txBody>
      </p:sp>
      <p:sp>
        <p:nvSpPr>
          <p:cNvPr id="12" name="Text 10"/>
          <p:cNvSpPr txBox="1"/>
          <p:nvPr/>
        </p:nvSpPr>
        <p:spPr>
          <a:xfrm>
            <a:off x="2834640" y="3456432"/>
            <a:ext cx="548640" cy="274320"/>
          </a:xfrm>
          <a:prstGeom prst="rect">
            <a:avLst/>
          </a:prstGeom>
          <a:noFill/>
          <a:ln/>
        </p:spPr>
        <p:txBody>
          <a:bodyPr wrap="square" lIns="0" tIns="0" rIns="0" bIns="0" rtlCol="0" anchor="ctr"/>
          <a:lstStyle/>
          <a:p>
            <a:pPr algn="ctr" indent="0" marL="0">
              <a:buNone/>
            </a:pPr>
            <a:r>
              <a:rPr lang="en-US" sz="1200" dirty="0">
                <a:solidFill>
                  <a:schemeClr val="accent1"/>
                </a:solidFill>
              </a:rPr>
              <a:t>▼</a:t>
            </a:r>
            <a:endParaRPr lang="en-US" sz="1200" dirty="0"/>
          </a:p>
        </p:txBody>
      </p:sp>
      <p:sp>
        <p:nvSpPr>
          <p:cNvPr id="13" name="objeto3"/>
          <p:cNvSpPr/>
          <p:nvPr/>
        </p:nvSpPr>
        <p:spPr>
          <a:xfrm>
            <a:off x="548640" y="3703320"/>
            <a:ext cx="5120640" cy="914400"/>
          </a:xfrm>
          <a:prstGeom prst="roundRect">
            <a:avLst>
              <a:gd name="adj" fmla="val 12000"/>
            </a:avLst>
          </a:prstGeom>
          <a:solidFill>
            <a:schemeClr val="bg2"/>
          </a:solidFill>
          <a:ln/>
        </p:spPr>
      </p:sp>
      <p:sp>
        <p:nvSpPr>
          <p:cNvPr id="14" name="Shape 12"/>
          <p:cNvSpPr/>
          <p:nvPr/>
        </p:nvSpPr>
        <p:spPr>
          <a:xfrm>
            <a:off x="777240" y="4014216"/>
            <a:ext cx="292608" cy="292608"/>
          </a:xfrm>
          <a:prstGeom prst="ellipse">
            <a:avLst/>
          </a:prstGeom>
          <a:solidFill>
            <a:srgbClr val="2CA02C"/>
          </a:solidFill>
          <a:ln w="12700">
            <a:solidFill>
              <a:srgbClr val="2CA02C"/>
            </a:solidFill>
            <a:prstDash val="solid"/>
          </a:ln>
        </p:spPr>
      </p:sp>
      <p:sp>
        <p:nvSpPr>
          <p:cNvPr id="15" name="Text 13"/>
          <p:cNvSpPr txBox="1"/>
          <p:nvPr/>
        </p:nvSpPr>
        <p:spPr>
          <a:xfrm>
            <a:off x="1234440" y="3703320"/>
            <a:ext cx="4297680" cy="914400"/>
          </a:xfrm>
          <a:prstGeom prst="rect">
            <a:avLst/>
          </a:prstGeom>
          <a:noFill/>
          <a:ln/>
        </p:spPr>
        <p:txBody>
          <a:bodyPr wrap="square" rtlCol="0" anchor="ctr"/>
          <a:lstStyle/>
          <a:p>
            <a:pPr indent="0" marL="0">
              <a:buNone/>
            </a:pPr>
            <a:r>
              <a:rPr lang="en-US" sz="1700" b="1" dirty="0">
                <a:solidFill>
                  <a:schemeClr val="tx1"/>
                </a:solidFill>
              </a:rPr>
              <a:t>Viga de cimentación VC</a:t>
            </a:r>
            <a:endParaRPr lang="en-US" sz="1700" dirty="0"/>
          </a:p>
          <a:p>
            <a:pPr indent="0" marL="0">
              <a:buNone/>
            </a:pPr>
            <a:r>
              <a:rPr lang="en-US" sz="1400" dirty="0">
                <a:solidFill>
                  <a:schemeClr val="tx2"/>
                </a:solidFill>
              </a:rPr>
              <a:t>Amarra las zapatas (23 tramos)</a:t>
            </a:r>
            <a:endParaRPr lang="en-US" sz="1700" dirty="0"/>
          </a:p>
        </p:txBody>
      </p:sp>
      <p:sp>
        <p:nvSpPr>
          <p:cNvPr id="16" name="Text 14"/>
          <p:cNvSpPr txBox="1"/>
          <p:nvPr/>
        </p:nvSpPr>
        <p:spPr>
          <a:xfrm>
            <a:off x="2834640" y="4599432"/>
            <a:ext cx="548640" cy="274320"/>
          </a:xfrm>
          <a:prstGeom prst="rect">
            <a:avLst/>
          </a:prstGeom>
          <a:noFill/>
          <a:ln/>
        </p:spPr>
        <p:txBody>
          <a:bodyPr wrap="square" lIns="0" tIns="0" rIns="0" bIns="0" rtlCol="0" anchor="ctr"/>
          <a:lstStyle/>
          <a:p>
            <a:pPr algn="ctr" indent="0" marL="0">
              <a:buNone/>
            </a:pPr>
            <a:r>
              <a:rPr lang="en-US" sz="1200" dirty="0">
                <a:solidFill>
                  <a:schemeClr val="accent1"/>
                </a:solidFill>
              </a:rPr>
              <a:t>▼</a:t>
            </a:r>
            <a:endParaRPr lang="en-US" sz="1200" dirty="0"/>
          </a:p>
        </p:txBody>
      </p:sp>
      <p:sp>
        <p:nvSpPr>
          <p:cNvPr id="17" name="objeto4"/>
          <p:cNvSpPr/>
          <p:nvPr/>
        </p:nvSpPr>
        <p:spPr>
          <a:xfrm>
            <a:off x="548640" y="4846320"/>
            <a:ext cx="5120640" cy="914400"/>
          </a:xfrm>
          <a:prstGeom prst="roundRect">
            <a:avLst>
              <a:gd name="adj" fmla="val 12000"/>
            </a:avLst>
          </a:prstGeom>
          <a:solidFill>
            <a:schemeClr val="bg2"/>
          </a:solidFill>
          <a:ln/>
        </p:spPr>
      </p:sp>
      <p:sp>
        <p:nvSpPr>
          <p:cNvPr id="18" name="Shape 16"/>
          <p:cNvSpPr/>
          <p:nvPr/>
        </p:nvSpPr>
        <p:spPr>
          <a:xfrm>
            <a:off x="777240" y="5157216"/>
            <a:ext cx="292608" cy="292608"/>
          </a:xfrm>
          <a:prstGeom prst="ellipse">
            <a:avLst/>
          </a:prstGeom>
          <a:solidFill>
            <a:srgbClr val="8C8C8C"/>
          </a:solidFill>
          <a:ln w="12700">
            <a:solidFill>
              <a:srgbClr val="8C8C8C"/>
            </a:solidFill>
            <a:prstDash val="solid"/>
          </a:ln>
        </p:spPr>
      </p:sp>
      <p:sp>
        <p:nvSpPr>
          <p:cNvPr id="19" name="Text 17"/>
          <p:cNvSpPr txBox="1"/>
          <p:nvPr/>
        </p:nvSpPr>
        <p:spPr>
          <a:xfrm>
            <a:off x="1234440" y="4846320"/>
            <a:ext cx="4297680" cy="914400"/>
          </a:xfrm>
          <a:prstGeom prst="rect">
            <a:avLst/>
          </a:prstGeom>
          <a:noFill/>
          <a:ln/>
        </p:spPr>
        <p:txBody>
          <a:bodyPr wrap="square" rtlCol="0" anchor="ctr"/>
          <a:lstStyle/>
          <a:p>
            <a:pPr indent="0" marL="0">
              <a:buNone/>
            </a:pPr>
            <a:r>
              <a:rPr lang="en-US" sz="1700" b="1" dirty="0">
                <a:solidFill>
                  <a:schemeClr val="tx1"/>
                </a:solidFill>
              </a:rPr>
              <a:t>Zapata aislada</a:t>
            </a:r>
            <a:endParaRPr lang="en-US" sz="1700" dirty="0"/>
          </a:p>
          <a:p>
            <a:pPr indent="0" marL="0">
              <a:buNone/>
            </a:pPr>
            <a:r>
              <a:rPr lang="en-US" sz="1400" dirty="0">
                <a:solidFill>
                  <a:schemeClr val="tx2"/>
                </a:solidFill>
              </a:rPr>
              <a:t>Entrega al suelo (19 und.)</a:t>
            </a:r>
            <a:endParaRPr lang="en-US" sz="1700" dirty="0"/>
          </a:p>
        </p:txBody>
      </p:sp>
      <p:sp>
        <p:nvSpPr>
          <p:cNvPr id="20" name="Text 18"/>
          <p:cNvSpPr txBox="1"/>
          <p:nvPr/>
        </p:nvSpPr>
        <p:spPr>
          <a:xfrm>
            <a:off x="548640" y="5943600"/>
            <a:ext cx="5303520" cy="365760"/>
          </a:xfrm>
          <a:prstGeom prst="rect">
            <a:avLst/>
          </a:prstGeom>
          <a:noFill/>
          <a:ln/>
        </p:spPr>
        <p:txBody>
          <a:bodyPr wrap="square" rtlCol="0" anchor="ctr"/>
          <a:lstStyle/>
          <a:p>
            <a:pPr indent="0" marL="0">
              <a:buNone/>
            </a:pPr>
            <a:r>
              <a:rPr lang="en-US" sz="1200" i="1" dirty="0">
                <a:solidFill>
                  <a:schemeClr val="tx2"/>
                </a:solidFill>
              </a:rPr>
              <a:t>Complementan el modelo: vigas aéreas VG (naranja) y losa maciza N+3,05 (amarillo).</a:t>
            </a:r>
            <a:endParaRPr lang="en-US" sz="1200" dirty="0"/>
          </a:p>
        </p:txBody>
      </p:sp>
      <p:sp>
        <p:nvSpPr>
          <p:cNvPr id="21" name="marco"/>
          <p:cNvSpPr/>
          <p:nvPr/>
        </p:nvSpPr>
        <p:spPr>
          <a:xfrm>
            <a:off x="6126480" y="1417320"/>
            <a:ext cx="5486400" cy="4526280"/>
          </a:xfrm>
          <a:prstGeom prst="roundRect">
            <a:avLst>
              <a:gd name="adj" fmla="val 3030"/>
            </a:avLst>
          </a:prstGeom>
          <a:solidFill>
            <a:srgbClr val="FFFFFF"/>
          </a:solidFill>
          <a:ln w="12700">
            <a:solidFill>
              <a:srgbClr val="D5DBDF"/>
            </a:solidFill>
            <a:prstDash val="solid"/>
          </a:ln>
        </p:spPr>
      </p:sp>
      <p:pic>
        <p:nvPicPr>
          <p:cNvPr id="22" name="Image 0" descr="Cimentación, columnas y vigas VC – ejes 1–8 / A–G">    </p:cNvPr>
          <p:cNvPicPr>
            <a:picLocks noChangeAspect="1"/>
          </p:cNvPicPr>
          <p:nvPr/>
        </p:nvPicPr>
        <p:blipFill>
          <a:blip r:embed="rId1"/>
          <a:stretch>
            <a:fillRect/>
          </a:stretch>
        </p:blipFill>
        <p:spPr>
          <a:xfrm>
            <a:off x="6128594" y="1417320"/>
            <a:ext cx="5482172" cy="4526280"/>
          </a:xfrm>
          <a:prstGeom prst="rect">
            <a:avLst/>
          </a:prstGeom>
        </p:spPr>
      </p:pic>
      <p:sp>
        <p:nvSpPr>
          <p:cNvPr id="23" name="Text 20"/>
          <p:cNvSpPr txBox="1"/>
          <p:nvPr/>
        </p:nvSpPr>
        <p:spPr>
          <a:xfrm>
            <a:off x="6126480" y="5989320"/>
            <a:ext cx="5486400" cy="320040"/>
          </a:xfrm>
          <a:prstGeom prst="rect">
            <a:avLst/>
          </a:prstGeom>
          <a:noFill/>
          <a:ln/>
        </p:spPr>
        <p:txBody>
          <a:bodyPr wrap="square" lIns="0" tIns="0" rIns="0" bIns="0" rtlCol="0" anchor="ctr"/>
          <a:lstStyle/>
          <a:p>
            <a:pPr algn="ctr" indent="0" marL="0">
              <a:buNone/>
            </a:pPr>
            <a:r>
              <a:rPr lang="en-US" sz="1100" i="1" dirty="0">
                <a:solidFill>
                  <a:schemeClr val="tx2"/>
                </a:solidFill>
              </a:rPr>
              <a:t>Cimentación, columnas y vigas VC – ejes 1–8 / A–G</a:t>
            </a:r>
            <a:endParaRPr lang="en-US" sz="11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Estrategia común: 5 parámetros PAC_</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0:40 – 1:05</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3291840"/>
                <a:gridCol w="1554480"/>
                <a:gridCol w="1188720"/>
              </a:tblGrid>
              <a:tr h="457200">
                <a:tc>
                  <a:txBody>
                    <a:bodyPr/>
                    <a:lstStyle/>
                    <a:p>
                      <a:pPr indent="0" marL="0">
                        <a:buNone/>
                      </a:pPr>
                      <a:r>
                        <a:rPr lang="en-US" sz="1400" b="1" dirty="0">
                          <a:solidFill>
                            <a:schemeClr val="bg1"/>
                          </a:solidFill>
                        </a:rPr>
                        <a:t>Parámetro común</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Tipo / Instancia</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Dato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tx1"/>
                          </a:solidFill>
                        </a:rPr>
                        <a:t>PAC_Codigo_Elemento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Instancia</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Texto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PAC_Material_Estructural</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Tipo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Texto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PAC_Resistencia_MPa</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Tipo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Número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PAC_Nivel_Referencia</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Instancia</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Texto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PAC_Clasificacion_IFC_Uniclass</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Tipo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Texto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bl>
          </a:graphicData>
        </a:graphic>
      </p:graphicFrame>
      <p:sp>
        <p:nvSpPr>
          <p:cNvPr id="6" name="Shape 3"/>
          <p:cNvSpPr/>
          <p:nvPr/>
        </p:nvSpPr>
        <p:spPr>
          <a:xfrm>
            <a:off x="7040880" y="1463040"/>
            <a:ext cx="502920" cy="502920"/>
          </a:xfrm>
          <a:prstGeom prst="ellipse">
            <a:avLst/>
          </a:prstGeom>
          <a:solidFill>
            <a:schemeClr val="accent1"/>
          </a:solidFill>
          <a:ln/>
        </p:spPr>
      </p:sp>
      <p:sp>
        <p:nvSpPr>
          <p:cNvPr id="7" name="Text 4"/>
          <p:cNvSpPr txBox="1"/>
          <p:nvPr/>
        </p:nvSpPr>
        <p:spPr>
          <a:xfrm>
            <a:off x="7040880" y="1463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7726680" y="1417320"/>
            <a:ext cx="3931920" cy="1280160"/>
          </a:xfrm>
          <a:prstGeom prst="rect">
            <a:avLst/>
          </a:prstGeom>
          <a:noFill/>
          <a:ln/>
        </p:spPr>
        <p:txBody>
          <a:bodyPr wrap="square" lIns="0" tIns="0" rIns="0" bIns="0" rtlCol="0" anchor="t"/>
          <a:lstStyle/>
          <a:p>
            <a:pPr indent="0" marL="0">
              <a:buNone/>
            </a:pPr>
            <a:r>
              <a:rPr lang="en-US" sz="1700" b="1" dirty="0">
                <a:solidFill>
                  <a:schemeClr val="tx1"/>
                </a:solidFill>
              </a:rPr>
              <a:t>Compartidos + de proyecto</a:t>
            </a:r>
            <a:endParaRPr lang="en-US" sz="1700" dirty="0"/>
          </a:p>
          <a:p>
            <a:pPr indent="0" marL="0">
              <a:buNone/>
            </a:pPr>
            <a:r>
              <a:rPr lang="en-US" sz="1400" dirty="0">
                <a:solidFill>
                  <a:schemeClr val="tx2"/>
                </a:solidFill>
              </a:rPr>
              <a:t>Un solo GUID en los 4 objetos: el Schedule y el IFC los leen como un solo campo.</a:t>
            </a:r>
            <a:endParaRPr lang="en-US" sz="1700" dirty="0"/>
          </a:p>
        </p:txBody>
      </p:sp>
      <p:sp>
        <p:nvSpPr>
          <p:cNvPr id="9" name="Shape 6"/>
          <p:cNvSpPr/>
          <p:nvPr/>
        </p:nvSpPr>
        <p:spPr>
          <a:xfrm>
            <a:off x="7040880" y="2926080"/>
            <a:ext cx="502920" cy="502920"/>
          </a:xfrm>
          <a:prstGeom prst="ellipse">
            <a:avLst/>
          </a:prstGeom>
          <a:solidFill>
            <a:schemeClr val="accent1"/>
          </a:solidFill>
          <a:ln/>
        </p:spPr>
      </p:sp>
      <p:sp>
        <p:nvSpPr>
          <p:cNvPr id="10" name="Text 7"/>
          <p:cNvSpPr txBox="1"/>
          <p:nvPr/>
        </p:nvSpPr>
        <p:spPr>
          <a:xfrm>
            <a:off x="7040880" y="2926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7726680" y="2880360"/>
            <a:ext cx="3931920" cy="1280160"/>
          </a:xfrm>
          <a:prstGeom prst="rect">
            <a:avLst/>
          </a:prstGeom>
          <a:noFill/>
          <a:ln/>
        </p:spPr>
        <p:txBody>
          <a:bodyPr wrap="square" lIns="0" tIns="0" rIns="0" bIns="0" rtlCol="0" anchor="t"/>
          <a:lstStyle/>
          <a:p>
            <a:pPr indent="0" marL="0">
              <a:buNone/>
            </a:pPr>
            <a:r>
              <a:rPr lang="en-US" sz="1700" b="1" dirty="0">
                <a:solidFill>
                  <a:schemeClr val="tx1"/>
                </a:solidFill>
              </a:rPr>
              <a:t>Tipo vs. instancia</a:t>
            </a:r>
            <a:endParaRPr lang="en-US" sz="1700" dirty="0"/>
          </a:p>
          <a:p>
            <a:pPr indent="0" marL="0">
              <a:buNone/>
            </a:pPr>
            <a:r>
              <a:rPr lang="en-US" sz="1400" dirty="0">
                <a:solidFill>
                  <a:schemeClr val="tx2"/>
                </a:solidFill>
              </a:rPr>
              <a:t>Tipo = igual en todo el tipo (material, f'c). Instancia = cambia pieza a pieza (código, nivel).</a:t>
            </a:r>
            <a:endParaRPr lang="en-US" sz="1700" dirty="0"/>
          </a:p>
        </p:txBody>
      </p:sp>
      <p:sp>
        <p:nvSpPr>
          <p:cNvPr id="12" name="Shape 9"/>
          <p:cNvSpPr/>
          <p:nvPr/>
        </p:nvSpPr>
        <p:spPr>
          <a:xfrm>
            <a:off x="7040880" y="4389120"/>
            <a:ext cx="502920" cy="502920"/>
          </a:xfrm>
          <a:prstGeom prst="ellipse">
            <a:avLst/>
          </a:prstGeom>
          <a:solidFill>
            <a:schemeClr val="accent1"/>
          </a:solidFill>
          <a:ln/>
        </p:spPr>
      </p:sp>
      <p:sp>
        <p:nvSpPr>
          <p:cNvPr id="13" name="Text 10"/>
          <p:cNvSpPr txBox="1"/>
          <p:nvPr/>
        </p:nvSpPr>
        <p:spPr>
          <a:xfrm>
            <a:off x="7040880" y="4389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7726680" y="4343400"/>
            <a:ext cx="3931920" cy="1280160"/>
          </a:xfrm>
          <a:prstGeom prst="rect">
            <a:avLst/>
          </a:prstGeom>
          <a:noFill/>
          <a:ln/>
        </p:spPr>
        <p:txBody>
          <a:bodyPr wrap="square" lIns="0" tIns="0" rIns="0" bIns="0" rtlCol="0" anchor="t"/>
          <a:lstStyle/>
          <a:p>
            <a:pPr indent="0" marL="0">
              <a:buNone/>
            </a:pPr>
            <a:r>
              <a:rPr lang="en-US" sz="1700" b="1" dirty="0">
                <a:solidFill>
                  <a:schemeClr val="tx1"/>
                </a:solidFill>
              </a:rPr>
              <a:t>Sin duplicados</a:t>
            </a:r>
            <a:endParaRPr lang="en-US" sz="1700" dirty="0"/>
          </a:p>
          <a:p>
            <a:pPr indent="0" marL="0">
              <a:buNone/>
            </a:pPr>
            <a:r>
              <a:rPr lang="en-US" sz="1400" dirty="0">
                <a:solidFill>
                  <a:schemeClr val="tx2"/>
                </a:solidFill>
              </a:rPr>
              <a:t>NSR-10 va una vez en Información de proyecto; no se repiten datos que Revit ya calcula.</a:t>
            </a:r>
            <a:endParaRPr lang="en-US" sz="17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Tres parámetros particulares por objeto</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1:05 – 1:25</a:t>
            </a:r>
            <a:endParaRPr lang="en-US" sz="1300" dirty="0"/>
          </a:p>
        </p:txBody>
      </p:sp>
      <p:sp>
        <p:nvSpPr>
          <p:cNvPr id="5" name="particular1"/>
          <p:cNvSpPr/>
          <p:nvPr/>
        </p:nvSpPr>
        <p:spPr>
          <a:xfrm>
            <a:off x="548640" y="1371600"/>
            <a:ext cx="5440680" cy="1600200"/>
          </a:xfrm>
          <a:prstGeom prst="roundRect">
            <a:avLst>
              <a:gd name="adj" fmla="val 6857"/>
            </a:avLst>
          </a:prstGeom>
          <a:solidFill>
            <a:schemeClr val="bg2"/>
          </a:solidFill>
          <a:ln/>
        </p:spPr>
      </p:sp>
      <p:sp>
        <p:nvSpPr>
          <p:cNvPr id="6" name="Shape 4"/>
          <p:cNvSpPr/>
          <p:nvPr/>
        </p:nvSpPr>
        <p:spPr>
          <a:xfrm>
            <a:off x="777240" y="1600200"/>
            <a:ext cx="292608" cy="292608"/>
          </a:xfrm>
          <a:prstGeom prst="ellipse">
            <a:avLst/>
          </a:prstGeom>
          <a:solidFill>
            <a:srgbClr val="8C8C8C"/>
          </a:solidFill>
          <a:ln w="12700">
            <a:solidFill>
              <a:srgbClr val="8C8C8C"/>
            </a:solidFill>
            <a:prstDash val="solid"/>
          </a:ln>
        </p:spPr>
      </p:sp>
      <p:sp>
        <p:nvSpPr>
          <p:cNvPr id="7" name="Text 5"/>
          <p:cNvSpPr txBox="1"/>
          <p:nvPr/>
        </p:nvSpPr>
        <p:spPr>
          <a:xfrm>
            <a:off x="1188720" y="1508760"/>
            <a:ext cx="4389120" cy="457200"/>
          </a:xfrm>
          <a:prstGeom prst="rect">
            <a:avLst/>
          </a:prstGeom>
          <a:noFill/>
          <a:ln/>
        </p:spPr>
        <p:txBody>
          <a:bodyPr wrap="square" lIns="0" tIns="0" rIns="0" bIns="0" rtlCol="0" anchor="ctr"/>
          <a:lstStyle/>
          <a:p>
            <a:pPr indent="0" marL="0">
              <a:buNone/>
            </a:pPr>
            <a:r>
              <a:rPr lang="en-US" sz="1800" b="1" dirty="0">
                <a:solidFill>
                  <a:schemeClr val="tx1"/>
                </a:solidFill>
              </a:rPr>
              <a:t>Zapata</a:t>
            </a:r>
            <a:endParaRPr lang="en-US" sz="1800" dirty="0"/>
          </a:p>
        </p:txBody>
      </p:sp>
      <p:sp>
        <p:nvSpPr>
          <p:cNvPr id="8" name="Text 6"/>
          <p:cNvSpPr txBox="1"/>
          <p:nvPr/>
        </p:nvSpPr>
        <p:spPr>
          <a:xfrm>
            <a:off x="1051560" y="1965960"/>
            <a:ext cx="4754880" cy="960120"/>
          </a:xfrm>
          <a:prstGeom prst="rect">
            <a:avLst/>
          </a:prstGeom>
          <a:noFill/>
          <a:ln/>
        </p:spPr>
        <p:txBody>
          <a:bodyPr wrap="square" rtlCol="0" anchor="t"/>
          <a:lstStyle/>
          <a:p>
            <a:pPr marL="342900" indent="-342900">
              <a:buSzPct val="100000"/>
              <a:buChar char="•"/>
            </a:pPr>
            <a:r>
              <a:rPr lang="en-US" sz="1400" dirty="0">
                <a:solidFill>
                  <a:schemeClr val="tx1"/>
                </a:solidFill>
              </a:rPr>
              <a:t>ZAP_Lado_B  (T)</a:t>
            </a:r>
            <a:endParaRPr lang="en-US" sz="1400" dirty="0"/>
          </a:p>
          <a:p>
            <a:pPr marL="342900" indent="-342900">
              <a:buSzPct val="100000"/>
              <a:buChar char="•"/>
            </a:pPr>
            <a:r>
              <a:rPr lang="en-US" sz="1400" dirty="0">
                <a:solidFill>
                  <a:schemeClr val="tx1"/>
                </a:solidFill>
              </a:rPr>
              <a:t>ZAP_Espesor_h  (T)</a:t>
            </a:r>
            <a:endParaRPr lang="en-US" sz="1400" dirty="0"/>
          </a:p>
          <a:p>
            <a:pPr marL="342900" indent="-342900">
              <a:buSzPct val="100000"/>
              <a:buChar char="•"/>
            </a:pPr>
            <a:r>
              <a:rPr lang="en-US" sz="1400" dirty="0">
                <a:solidFill>
                  <a:schemeClr val="tx1"/>
                </a:solidFill>
              </a:rPr>
              <a:t>ZAP_Volumen_Concreto  (T, fórmula)</a:t>
            </a:r>
            <a:endParaRPr lang="en-US" sz="1400" dirty="0"/>
          </a:p>
        </p:txBody>
      </p:sp>
      <p:sp>
        <p:nvSpPr>
          <p:cNvPr id="9" name="particular2"/>
          <p:cNvSpPr/>
          <p:nvPr/>
        </p:nvSpPr>
        <p:spPr>
          <a:xfrm>
            <a:off x="6172200" y="1371600"/>
            <a:ext cx="5440680" cy="1600200"/>
          </a:xfrm>
          <a:prstGeom prst="roundRect">
            <a:avLst>
              <a:gd name="adj" fmla="val 6857"/>
            </a:avLst>
          </a:prstGeom>
          <a:solidFill>
            <a:schemeClr val="bg2"/>
          </a:solidFill>
          <a:ln/>
        </p:spPr>
      </p:sp>
      <p:sp>
        <p:nvSpPr>
          <p:cNvPr id="10" name="Shape 8"/>
          <p:cNvSpPr/>
          <p:nvPr/>
        </p:nvSpPr>
        <p:spPr>
          <a:xfrm>
            <a:off x="6400800" y="1600200"/>
            <a:ext cx="292608" cy="292608"/>
          </a:xfrm>
          <a:prstGeom prst="ellipse">
            <a:avLst/>
          </a:prstGeom>
          <a:solidFill>
            <a:srgbClr val="1F77B4"/>
          </a:solidFill>
          <a:ln w="12700">
            <a:solidFill>
              <a:srgbClr val="1F77B4"/>
            </a:solidFill>
            <a:prstDash val="solid"/>
          </a:ln>
        </p:spPr>
      </p:sp>
      <p:sp>
        <p:nvSpPr>
          <p:cNvPr id="11" name="Text 9"/>
          <p:cNvSpPr txBox="1"/>
          <p:nvPr/>
        </p:nvSpPr>
        <p:spPr>
          <a:xfrm>
            <a:off x="6812280" y="1508760"/>
            <a:ext cx="4389120" cy="457200"/>
          </a:xfrm>
          <a:prstGeom prst="rect">
            <a:avLst/>
          </a:prstGeom>
          <a:noFill/>
          <a:ln/>
        </p:spPr>
        <p:txBody>
          <a:bodyPr wrap="square" lIns="0" tIns="0" rIns="0" bIns="0" rtlCol="0" anchor="ctr"/>
          <a:lstStyle/>
          <a:p>
            <a:pPr indent="0" marL="0">
              <a:buNone/>
            </a:pPr>
            <a:r>
              <a:rPr lang="en-US" sz="1800" b="1" dirty="0">
                <a:solidFill>
                  <a:schemeClr val="tx1"/>
                </a:solidFill>
              </a:rPr>
              <a:t>Columna</a:t>
            </a:r>
            <a:endParaRPr lang="en-US" sz="1800" dirty="0"/>
          </a:p>
        </p:txBody>
      </p:sp>
      <p:sp>
        <p:nvSpPr>
          <p:cNvPr id="12" name="Text 10"/>
          <p:cNvSpPr txBox="1"/>
          <p:nvPr/>
        </p:nvSpPr>
        <p:spPr>
          <a:xfrm>
            <a:off x="6675120" y="1965960"/>
            <a:ext cx="4754880" cy="960120"/>
          </a:xfrm>
          <a:prstGeom prst="rect">
            <a:avLst/>
          </a:prstGeom>
          <a:noFill/>
          <a:ln/>
        </p:spPr>
        <p:txBody>
          <a:bodyPr wrap="square" rtlCol="0" anchor="t"/>
          <a:lstStyle/>
          <a:p>
            <a:pPr marL="342900" indent="-342900">
              <a:buSzPct val="100000"/>
              <a:buChar char="•"/>
            </a:pPr>
            <a:r>
              <a:rPr lang="en-US" sz="1400" dirty="0">
                <a:solidFill>
                  <a:schemeClr val="tx1"/>
                </a:solidFill>
              </a:rPr>
              <a:t>COL_Seccion_bxh  (T)</a:t>
            </a:r>
            <a:endParaRPr lang="en-US" sz="1400" dirty="0"/>
          </a:p>
          <a:p>
            <a:pPr marL="342900" indent="-342900">
              <a:buSzPct val="100000"/>
              <a:buChar char="•"/>
            </a:pPr>
            <a:r>
              <a:rPr lang="en-US" sz="1400" dirty="0">
                <a:solidFill>
                  <a:schemeClr val="tx1"/>
                </a:solidFill>
              </a:rPr>
              <a:t>COL_Altura_Libre  (I)</a:t>
            </a:r>
            <a:endParaRPr lang="en-US" sz="1400" dirty="0"/>
          </a:p>
          <a:p>
            <a:pPr marL="342900" indent="-342900">
              <a:buSzPct val="100000"/>
              <a:buChar char="•"/>
            </a:pPr>
            <a:r>
              <a:rPr lang="en-US" sz="1400" dirty="0">
                <a:solidFill>
                  <a:schemeClr val="tx1"/>
                </a:solidFill>
              </a:rPr>
              <a:t>COL_Refuerzo_Longitudinal  (T)</a:t>
            </a:r>
            <a:endParaRPr lang="en-US" sz="1400" dirty="0"/>
          </a:p>
        </p:txBody>
      </p:sp>
      <p:sp>
        <p:nvSpPr>
          <p:cNvPr id="13" name="particular3"/>
          <p:cNvSpPr/>
          <p:nvPr/>
        </p:nvSpPr>
        <p:spPr>
          <a:xfrm>
            <a:off x="548640" y="3154680"/>
            <a:ext cx="5440680" cy="1600200"/>
          </a:xfrm>
          <a:prstGeom prst="roundRect">
            <a:avLst>
              <a:gd name="adj" fmla="val 6857"/>
            </a:avLst>
          </a:prstGeom>
          <a:solidFill>
            <a:schemeClr val="bg2"/>
          </a:solidFill>
          <a:ln/>
        </p:spPr>
      </p:sp>
      <p:sp>
        <p:nvSpPr>
          <p:cNvPr id="14" name="Shape 12"/>
          <p:cNvSpPr/>
          <p:nvPr/>
        </p:nvSpPr>
        <p:spPr>
          <a:xfrm>
            <a:off x="777240" y="3383280"/>
            <a:ext cx="292608" cy="292608"/>
          </a:xfrm>
          <a:prstGeom prst="ellipse">
            <a:avLst/>
          </a:prstGeom>
          <a:solidFill>
            <a:srgbClr val="2CA02C"/>
          </a:solidFill>
          <a:ln w="12700">
            <a:solidFill>
              <a:srgbClr val="2CA02C"/>
            </a:solidFill>
            <a:prstDash val="solid"/>
          </a:ln>
        </p:spPr>
      </p:sp>
      <p:sp>
        <p:nvSpPr>
          <p:cNvPr id="15" name="Text 13"/>
          <p:cNvSpPr txBox="1"/>
          <p:nvPr/>
        </p:nvSpPr>
        <p:spPr>
          <a:xfrm>
            <a:off x="1188720" y="3291840"/>
            <a:ext cx="4389120" cy="457200"/>
          </a:xfrm>
          <a:prstGeom prst="rect">
            <a:avLst/>
          </a:prstGeom>
          <a:noFill/>
          <a:ln/>
        </p:spPr>
        <p:txBody>
          <a:bodyPr wrap="square" lIns="0" tIns="0" rIns="0" bIns="0" rtlCol="0" anchor="ctr"/>
          <a:lstStyle/>
          <a:p>
            <a:pPr indent="0" marL="0">
              <a:buNone/>
            </a:pPr>
            <a:r>
              <a:rPr lang="en-US" sz="1800" b="1" dirty="0">
                <a:solidFill>
                  <a:schemeClr val="tx1"/>
                </a:solidFill>
              </a:rPr>
              <a:t>Viga VC</a:t>
            </a:r>
            <a:endParaRPr lang="en-US" sz="1800" dirty="0"/>
          </a:p>
        </p:txBody>
      </p:sp>
      <p:sp>
        <p:nvSpPr>
          <p:cNvPr id="16" name="Text 14"/>
          <p:cNvSpPr txBox="1"/>
          <p:nvPr/>
        </p:nvSpPr>
        <p:spPr>
          <a:xfrm>
            <a:off x="1051560" y="3749040"/>
            <a:ext cx="4754880" cy="960120"/>
          </a:xfrm>
          <a:prstGeom prst="rect">
            <a:avLst/>
          </a:prstGeom>
          <a:noFill/>
          <a:ln/>
        </p:spPr>
        <p:txBody>
          <a:bodyPr wrap="square" rtlCol="0" anchor="t"/>
          <a:lstStyle/>
          <a:p>
            <a:pPr marL="342900" indent="-342900">
              <a:buSzPct val="100000"/>
              <a:buChar char="•"/>
            </a:pPr>
            <a:r>
              <a:rPr lang="en-US" sz="1400" dirty="0">
                <a:solidFill>
                  <a:schemeClr val="tx1"/>
                </a:solidFill>
              </a:rPr>
              <a:t>VCI_Seccion_bxh  (T)</a:t>
            </a:r>
            <a:endParaRPr lang="en-US" sz="1400" dirty="0"/>
          </a:p>
          <a:p>
            <a:pPr marL="342900" indent="-342900">
              <a:buSzPct val="100000"/>
              <a:buChar char="•"/>
            </a:pPr>
            <a:r>
              <a:rPr lang="en-US" sz="1400" dirty="0">
                <a:solidFill>
                  <a:schemeClr val="tx1"/>
                </a:solidFill>
              </a:rPr>
              <a:t>VCI_Eje_Estructural  (I)</a:t>
            </a:r>
            <a:endParaRPr lang="en-US" sz="1400" dirty="0"/>
          </a:p>
          <a:p>
            <a:pPr marL="342900" indent="-342900">
              <a:buSzPct val="100000"/>
              <a:buChar char="•"/>
            </a:pPr>
            <a:r>
              <a:rPr lang="en-US" sz="1400" dirty="0">
                <a:solidFill>
                  <a:schemeClr val="tx1"/>
                </a:solidFill>
              </a:rPr>
              <a:t>VCI_Refuerzo  (T)</a:t>
            </a:r>
            <a:endParaRPr lang="en-US" sz="1400" dirty="0"/>
          </a:p>
        </p:txBody>
      </p:sp>
      <p:sp>
        <p:nvSpPr>
          <p:cNvPr id="17" name="particular4"/>
          <p:cNvSpPr/>
          <p:nvPr/>
        </p:nvSpPr>
        <p:spPr>
          <a:xfrm>
            <a:off x="6172200" y="3154680"/>
            <a:ext cx="5440680" cy="1600200"/>
          </a:xfrm>
          <a:prstGeom prst="roundRect">
            <a:avLst>
              <a:gd name="adj" fmla="val 6857"/>
            </a:avLst>
          </a:prstGeom>
          <a:solidFill>
            <a:schemeClr val="bg2"/>
          </a:solidFill>
          <a:ln/>
        </p:spPr>
      </p:sp>
      <p:sp>
        <p:nvSpPr>
          <p:cNvPr id="18" name="Shape 16"/>
          <p:cNvSpPr/>
          <p:nvPr/>
        </p:nvSpPr>
        <p:spPr>
          <a:xfrm>
            <a:off x="6400800" y="3383280"/>
            <a:ext cx="292608" cy="292608"/>
          </a:xfrm>
          <a:prstGeom prst="ellipse">
            <a:avLst/>
          </a:prstGeom>
          <a:solidFill>
            <a:srgbClr val="D62728"/>
          </a:solidFill>
          <a:ln w="12700">
            <a:solidFill>
              <a:srgbClr val="D62728"/>
            </a:solidFill>
            <a:prstDash val="solid"/>
          </a:ln>
        </p:spPr>
      </p:sp>
      <p:sp>
        <p:nvSpPr>
          <p:cNvPr id="19" name="Text 17"/>
          <p:cNvSpPr txBox="1"/>
          <p:nvPr/>
        </p:nvSpPr>
        <p:spPr>
          <a:xfrm>
            <a:off x="6812280" y="3291840"/>
            <a:ext cx="4389120" cy="457200"/>
          </a:xfrm>
          <a:prstGeom prst="rect">
            <a:avLst/>
          </a:prstGeom>
          <a:noFill/>
          <a:ln/>
        </p:spPr>
        <p:txBody>
          <a:bodyPr wrap="square" lIns="0" tIns="0" rIns="0" bIns="0" rtlCol="0" anchor="ctr"/>
          <a:lstStyle/>
          <a:p>
            <a:pPr indent="0" marL="0">
              <a:buNone/>
            </a:pPr>
            <a:r>
              <a:rPr lang="en-US" sz="1800" b="1" dirty="0">
                <a:solidFill>
                  <a:schemeClr val="tx1"/>
                </a:solidFill>
              </a:rPr>
              <a:t>Correa PHR</a:t>
            </a:r>
            <a:endParaRPr lang="en-US" sz="1800" dirty="0"/>
          </a:p>
        </p:txBody>
      </p:sp>
      <p:sp>
        <p:nvSpPr>
          <p:cNvPr id="20" name="Text 18"/>
          <p:cNvSpPr txBox="1"/>
          <p:nvPr/>
        </p:nvSpPr>
        <p:spPr>
          <a:xfrm>
            <a:off x="6675120" y="3749040"/>
            <a:ext cx="4754880" cy="960120"/>
          </a:xfrm>
          <a:prstGeom prst="rect">
            <a:avLst/>
          </a:prstGeom>
          <a:noFill/>
          <a:ln/>
        </p:spPr>
        <p:txBody>
          <a:bodyPr wrap="square" rtlCol="0" anchor="t"/>
          <a:lstStyle/>
          <a:p>
            <a:pPr marL="342900" indent="-342900">
              <a:buSzPct val="100000"/>
              <a:buChar char="•"/>
            </a:pPr>
            <a:r>
              <a:rPr lang="en-US" sz="1400" dirty="0">
                <a:solidFill>
                  <a:schemeClr val="tx1"/>
                </a:solidFill>
              </a:rPr>
              <a:t>COR_Designacion_Perfil  (T)</a:t>
            </a:r>
            <a:endParaRPr lang="en-US" sz="1400" dirty="0"/>
          </a:p>
          <a:p>
            <a:pPr marL="342900" indent="-342900">
              <a:buSzPct val="100000"/>
              <a:buChar char="•"/>
            </a:pPr>
            <a:r>
              <a:rPr lang="en-US" sz="1400" dirty="0">
                <a:solidFill>
                  <a:schemeClr val="tx1"/>
                </a:solidFill>
              </a:rPr>
              <a:t>COR_Espesor_Lamina  (T)</a:t>
            </a:r>
            <a:endParaRPr lang="en-US" sz="1400" dirty="0"/>
          </a:p>
          <a:p>
            <a:pPr marL="342900" indent="-342900">
              <a:buSzPct val="100000"/>
              <a:buChar char="•"/>
            </a:pPr>
            <a:r>
              <a:rPr lang="en-US" sz="1400" dirty="0">
                <a:solidFill>
                  <a:schemeClr val="tx1"/>
                </a:solidFill>
              </a:rPr>
              <a:t>COR_Separacion  (I)</a:t>
            </a:r>
            <a:endParaRPr lang="en-US" sz="1400" dirty="0"/>
          </a:p>
        </p:txBody>
      </p:sp>
      <p:sp>
        <p:nvSpPr>
          <p:cNvPr id="21" name="Text 19"/>
          <p:cNvSpPr txBox="1"/>
          <p:nvPr/>
        </p:nvSpPr>
        <p:spPr>
          <a:xfrm>
            <a:off x="548640" y="4983480"/>
            <a:ext cx="11064240" cy="1097280"/>
          </a:xfrm>
          <a:prstGeom prst="rect">
            <a:avLst/>
          </a:prstGeom>
          <a:noFill/>
          <a:ln/>
        </p:spPr>
        <p:txBody>
          <a:bodyPr wrap="square" rtlCol="0" anchor="t"/>
          <a:lstStyle/>
          <a:p>
            <a:pPr indent="0" marL="0">
              <a:buNone/>
            </a:pPr>
            <a:r>
              <a:rPr lang="en-US" sz="1400" b="1" dirty="0">
                <a:solidFill>
                  <a:schemeClr val="tx1"/>
                </a:solidFill>
              </a:rPr>
              <a:t>¿Por qué dentro de la familia? </a:t>
            </a:r>
            <a:pPr indent="0" marL="0">
              <a:buNone/>
            </a:pPr>
            <a:r>
              <a:rPr lang="en-US" sz="1400" dirty="0">
                <a:solidFill>
                  <a:schemeClr val="tx1"/>
                </a:solidFill>
              </a:rPr>
              <a:t>La viga VC y la correa están en la misma categoría (Armazón estructural). Si sus particulares fueran de proyecto, cada una mostraría los de la otra. Como compartidos dentro de la familia solo aparecen donde corresponden y sí entran al Schedule.</a:t>
            </a:r>
            <a:endParaRPr lang="en-US" sz="14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La relación paramétrica de la zapata</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1:25 – 1:50</a:t>
            </a:r>
            <a:endParaRPr lang="en-US" sz="1300" dirty="0"/>
          </a:p>
        </p:txBody>
      </p:sp>
      <p:sp>
        <p:nvSpPr>
          <p:cNvPr id="5" name="formula"/>
          <p:cNvSpPr/>
          <p:nvPr/>
        </p:nvSpPr>
        <p:spPr>
          <a:xfrm>
            <a:off x="548640" y="1417320"/>
            <a:ext cx="6035040" cy="1188720"/>
          </a:xfrm>
          <a:prstGeom prst="roundRect">
            <a:avLst>
              <a:gd name="adj" fmla="val 9231"/>
            </a:avLst>
          </a:prstGeom>
          <a:solidFill>
            <a:schemeClr val="tx1"/>
          </a:solidFill>
          <a:ln/>
        </p:spPr>
      </p:sp>
      <p:sp>
        <p:nvSpPr>
          <p:cNvPr id="6" name="Text 4"/>
          <p:cNvSpPr txBox="1"/>
          <p:nvPr/>
        </p:nvSpPr>
        <p:spPr>
          <a:xfrm>
            <a:off x="731520" y="1417320"/>
            <a:ext cx="5669280" cy="1188720"/>
          </a:xfrm>
          <a:prstGeom prst="rect">
            <a:avLst/>
          </a:prstGeom>
          <a:noFill/>
          <a:ln/>
        </p:spPr>
        <p:txBody>
          <a:bodyPr wrap="square" rtlCol="0" anchor="ctr"/>
          <a:lstStyle/>
          <a:p>
            <a:pPr indent="0" marL="0">
              <a:buNone/>
            </a:pPr>
            <a:r>
              <a:rPr lang="en-US" sz="1800" b="1" dirty="0">
                <a:solidFill>
                  <a:schemeClr val="bg1"/>
                </a:solidFill>
              </a:rPr>
              <a:t>ZAP_Volumen_Concreto = ZAP_Lado_B × ZAP_Lado_B × ZAP_Espesor_h</a:t>
            </a:r>
            <a:endParaRPr lang="en-US" sz="1800" dirty="0"/>
          </a:p>
        </p:txBody>
      </p:sp>
      <p:sp>
        <p:nvSpPr>
          <p:cNvPr id="7" name="Text 5"/>
          <p:cNvSpPr txBox="1"/>
          <p:nvPr/>
        </p:nvSpPr>
        <p:spPr>
          <a:xfrm>
            <a:off x="548640" y="2743200"/>
            <a:ext cx="6035040" cy="822960"/>
          </a:xfrm>
          <a:prstGeom prst="rect">
            <a:avLst/>
          </a:prstGeom>
          <a:noFill/>
          <a:ln/>
        </p:spPr>
        <p:txBody>
          <a:bodyPr wrap="square" rtlCol="0" anchor="ctr"/>
          <a:lstStyle/>
          <a:p>
            <a:pPr indent="0" marL="0">
              <a:buNone/>
            </a:pPr>
            <a:r>
              <a:rPr lang="en-US" sz="1400" dirty="0">
                <a:solidFill>
                  <a:schemeClr val="tx2"/>
                </a:solidFill>
              </a:rPr>
              <a:t>Además: Anchura = Longitud = ZAP_Lado_B y Espesor = ZAP_Espesor_h. Al cambiar el lado, cambian la geometría y el volumen.</a:t>
            </a:r>
            <a:endParaRPr lang="en-US" sz="1400" dirty="0"/>
          </a:p>
        </p:txBody>
      </p:sp>
      <p:sp>
        <p:nvSpPr>
          <p:cNvPr id="8" name="Text 6"/>
          <p:cNvSpPr txBox="1"/>
          <p:nvPr/>
        </p:nvSpPr>
        <p:spPr>
          <a:xfrm>
            <a:off x="548640" y="3749040"/>
            <a:ext cx="2834640" cy="914400"/>
          </a:xfrm>
          <a:prstGeom prst="rect">
            <a:avLst/>
          </a:prstGeom>
          <a:noFill/>
          <a:ln/>
        </p:spPr>
        <p:txBody>
          <a:bodyPr wrap="square" lIns="0" tIns="0" rIns="0" bIns="0" rtlCol="0" anchor="ctr"/>
          <a:lstStyle/>
          <a:p>
            <a:pPr indent="0" marL="0">
              <a:buNone/>
            </a:pPr>
            <a:r>
              <a:rPr lang="en-US" sz="4400" b="1" dirty="0">
                <a:solidFill>
                  <a:schemeClr val="tx1"/>
                </a:solidFill>
              </a:rPr>
              <a:t>0,592 m³</a:t>
            </a:r>
            <a:endParaRPr lang="en-US" sz="4400" dirty="0"/>
          </a:p>
        </p:txBody>
      </p:sp>
      <p:sp>
        <p:nvSpPr>
          <p:cNvPr id="9" name="Text 7"/>
          <p:cNvSpPr txBox="1"/>
          <p:nvPr/>
        </p:nvSpPr>
        <p:spPr>
          <a:xfrm>
            <a:off x="548640" y="4663440"/>
            <a:ext cx="2834640" cy="365760"/>
          </a:xfrm>
          <a:prstGeom prst="rect">
            <a:avLst/>
          </a:prstGeom>
          <a:noFill/>
          <a:ln/>
        </p:spPr>
        <p:txBody>
          <a:bodyPr wrap="square" lIns="0" tIns="0" rIns="0" bIns="0" rtlCol="0" anchor="ctr"/>
          <a:lstStyle/>
          <a:p>
            <a:pPr indent="0" marL="0">
              <a:buNone/>
            </a:pPr>
            <a:r>
              <a:rPr lang="en-US" sz="1300" dirty="0">
                <a:solidFill>
                  <a:schemeClr val="tx2"/>
                </a:solidFill>
              </a:rPr>
              <a:t>Z-T1 con B = 1,30 m (antes)</a:t>
            </a:r>
            <a:endParaRPr lang="en-US" sz="1300" dirty="0"/>
          </a:p>
        </p:txBody>
      </p:sp>
      <p:sp>
        <p:nvSpPr>
          <p:cNvPr id="10" name="Text 8"/>
          <p:cNvSpPr txBox="1"/>
          <p:nvPr/>
        </p:nvSpPr>
        <p:spPr>
          <a:xfrm>
            <a:off x="3657600" y="3749040"/>
            <a:ext cx="2834640" cy="914400"/>
          </a:xfrm>
          <a:prstGeom prst="rect">
            <a:avLst/>
          </a:prstGeom>
          <a:noFill/>
          <a:ln/>
        </p:spPr>
        <p:txBody>
          <a:bodyPr wrap="square" lIns="0" tIns="0" rIns="0" bIns="0" rtlCol="0" anchor="ctr"/>
          <a:lstStyle/>
          <a:p>
            <a:pPr indent="0" marL="0">
              <a:buNone/>
            </a:pPr>
            <a:r>
              <a:rPr lang="en-US" sz="4400" b="1" dirty="0">
                <a:solidFill>
                  <a:schemeClr val="accent1"/>
                </a:solidFill>
              </a:rPr>
              <a:t>0,788 m³</a:t>
            </a:r>
            <a:endParaRPr lang="en-US" sz="4400" dirty="0"/>
          </a:p>
        </p:txBody>
      </p:sp>
      <p:sp>
        <p:nvSpPr>
          <p:cNvPr id="11" name="Text 9"/>
          <p:cNvSpPr txBox="1"/>
          <p:nvPr/>
        </p:nvSpPr>
        <p:spPr>
          <a:xfrm>
            <a:off x="3657600" y="4663440"/>
            <a:ext cx="2834640" cy="365760"/>
          </a:xfrm>
          <a:prstGeom prst="rect">
            <a:avLst/>
          </a:prstGeom>
          <a:noFill/>
          <a:ln/>
        </p:spPr>
        <p:txBody>
          <a:bodyPr wrap="square" lIns="0" tIns="0" rIns="0" bIns="0" rtlCol="0" anchor="ctr"/>
          <a:lstStyle/>
          <a:p>
            <a:pPr indent="0" marL="0">
              <a:buNone/>
            </a:pPr>
            <a:r>
              <a:rPr lang="en-US" sz="1300" dirty="0">
                <a:solidFill>
                  <a:schemeClr val="tx2"/>
                </a:solidFill>
              </a:rPr>
              <a:t>Z-T1 con B = 1,50 m (después)</a:t>
            </a:r>
            <a:endParaRPr lang="en-US" sz="1300" dirty="0"/>
          </a:p>
        </p:txBody>
      </p:sp>
      <p:sp>
        <p:nvSpPr>
          <p:cNvPr id="12" name="Text 10"/>
          <p:cNvSpPr txBox="1"/>
          <p:nvPr/>
        </p:nvSpPr>
        <p:spPr>
          <a:xfrm>
            <a:off x="2971800" y="3886200"/>
            <a:ext cx="548640" cy="640080"/>
          </a:xfrm>
          <a:prstGeom prst="rect">
            <a:avLst/>
          </a:prstGeom>
          <a:noFill/>
          <a:ln/>
        </p:spPr>
        <p:txBody>
          <a:bodyPr wrap="square" lIns="0" tIns="0" rIns="0" bIns="0" rtlCol="0" anchor="ctr"/>
          <a:lstStyle/>
          <a:p>
            <a:pPr indent="0" marL="0">
              <a:buNone/>
            </a:pPr>
            <a:r>
              <a:rPr lang="en-US" sz="3000" dirty="0">
                <a:solidFill>
                  <a:schemeClr val="accent1"/>
                </a:solidFill>
              </a:rPr>
              <a:t>→</a:t>
            </a:r>
            <a:endParaRPr lang="en-US" sz="3000" dirty="0"/>
          </a:p>
        </p:txBody>
      </p:sp>
      <p:sp>
        <p:nvSpPr>
          <p:cNvPr id="13" name="marco"/>
          <p:cNvSpPr/>
          <p:nvPr/>
        </p:nvSpPr>
        <p:spPr>
          <a:xfrm>
            <a:off x="6949440" y="1417320"/>
            <a:ext cx="4663440" cy="4480560"/>
          </a:xfrm>
          <a:prstGeom prst="roundRect">
            <a:avLst>
              <a:gd name="adj" fmla="val 3061"/>
            </a:avLst>
          </a:prstGeom>
          <a:solidFill>
            <a:srgbClr val="FFFFFF"/>
          </a:solidFill>
          <a:ln w="12700">
            <a:solidFill>
              <a:srgbClr val="D5DBDF"/>
            </a:solidFill>
            <a:prstDash val="solid"/>
          </a:ln>
        </p:spPr>
      </p:sp>
      <p:pic>
        <p:nvPicPr>
          <p:cNvPr id="14" name="Image 0" descr="Familia P89_ZAP_Zapata_Aislada: B y h controlan geometría y volumen">    </p:cNvPr>
          <p:cNvPicPr>
            <a:picLocks noChangeAspect="1"/>
          </p:cNvPicPr>
          <p:nvPr/>
        </p:nvPicPr>
        <p:blipFill>
          <a:blip r:embed="rId1"/>
          <a:stretch>
            <a:fillRect/>
          </a:stretch>
        </p:blipFill>
        <p:spPr>
          <a:xfrm>
            <a:off x="6949440" y="2108652"/>
            <a:ext cx="4663440" cy="3097896"/>
          </a:xfrm>
          <a:prstGeom prst="rect">
            <a:avLst/>
          </a:prstGeom>
        </p:spPr>
      </p:pic>
      <p:sp>
        <p:nvSpPr>
          <p:cNvPr id="15" name="Text 12"/>
          <p:cNvSpPr txBox="1"/>
          <p:nvPr/>
        </p:nvSpPr>
        <p:spPr>
          <a:xfrm>
            <a:off x="6949440" y="5943600"/>
            <a:ext cx="4663440" cy="320040"/>
          </a:xfrm>
          <a:prstGeom prst="rect">
            <a:avLst/>
          </a:prstGeom>
          <a:noFill/>
          <a:ln/>
        </p:spPr>
        <p:txBody>
          <a:bodyPr wrap="square" lIns="0" tIns="0" rIns="0" bIns="0" rtlCol="0" anchor="ctr"/>
          <a:lstStyle/>
          <a:p>
            <a:pPr algn="ctr" indent="0" marL="0">
              <a:buNone/>
            </a:pPr>
            <a:r>
              <a:rPr lang="en-US" sz="1100" i="1" dirty="0">
                <a:solidFill>
                  <a:schemeClr val="tx2"/>
                </a:solidFill>
              </a:rPr>
              <a:t>Familia P89_ZAP_Zapata_Aislada: B y h controlan geometría y volumen</a:t>
            </a:r>
            <a:endParaRPr lang="en-US" sz="11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Implementación en Revit</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1:50 – 2:05</a:t>
            </a:r>
            <a:endParaRPr lang="en-US" sz="1300" dirty="0"/>
          </a:p>
        </p:txBody>
      </p:sp>
      <p:sp>
        <p:nvSpPr>
          <p:cNvPr id="5" name="marco"/>
          <p:cNvSpPr/>
          <p:nvPr/>
        </p:nvSpPr>
        <p:spPr>
          <a:xfrm>
            <a:off x="548640" y="1325880"/>
            <a:ext cx="2743200" cy="4526280"/>
          </a:xfrm>
          <a:prstGeom prst="roundRect">
            <a:avLst>
              <a:gd name="adj" fmla="val 5000"/>
            </a:avLst>
          </a:prstGeom>
          <a:solidFill>
            <a:srgbClr val="FFFFFF"/>
          </a:solidFill>
          <a:ln w="12700">
            <a:solidFill>
              <a:srgbClr val="D5DBDF"/>
            </a:solidFill>
            <a:prstDash val="solid"/>
          </a:ln>
        </p:spPr>
      </p:sp>
      <p:pic>
        <p:nvPicPr>
          <p:cNvPr id="6" name="Image 0" descr="Captura de Revit – columna C-30x30">    </p:cNvPr>
          <p:cNvPicPr>
            <a:picLocks noChangeAspect="1"/>
          </p:cNvPicPr>
          <p:nvPr/>
        </p:nvPicPr>
        <p:blipFill>
          <a:blip r:embed="rId1"/>
          <a:stretch>
            <a:fillRect/>
          </a:stretch>
        </p:blipFill>
        <p:spPr>
          <a:xfrm>
            <a:off x="756133" y="1325880"/>
            <a:ext cx="2328214" cy="4526280"/>
          </a:xfrm>
          <a:prstGeom prst="rect">
            <a:avLst/>
          </a:prstGeom>
        </p:spPr>
      </p:pic>
      <p:sp>
        <p:nvSpPr>
          <p:cNvPr id="7" name="Text 4"/>
          <p:cNvSpPr txBox="1"/>
          <p:nvPr/>
        </p:nvSpPr>
        <p:spPr>
          <a:xfrm>
            <a:off x="548640" y="5897880"/>
            <a:ext cx="2743200" cy="320040"/>
          </a:xfrm>
          <a:prstGeom prst="rect">
            <a:avLst/>
          </a:prstGeom>
          <a:noFill/>
          <a:ln/>
        </p:spPr>
        <p:txBody>
          <a:bodyPr wrap="square" lIns="0" tIns="0" rIns="0" bIns="0" rtlCol="0" anchor="ctr"/>
          <a:lstStyle/>
          <a:p>
            <a:pPr algn="ctr" indent="0" marL="0">
              <a:buNone/>
            </a:pPr>
            <a:r>
              <a:rPr lang="en-US" sz="1100" i="1" dirty="0">
                <a:solidFill>
                  <a:schemeClr val="tx2"/>
                </a:solidFill>
              </a:rPr>
              <a:t>Captura de Revit – columna C-30x30</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0" y="1325880"/>
          <a:ext cx="8001000" cy="914400"/>
        </p:xfrm>
        <a:graphic>
          <a:graphicData uri="http://schemas.openxmlformats.org/drawingml/2006/table">
            <a:tbl>
              <a:tblPr/>
              <a:tblGrid>
                <a:gridCol w="2377440"/>
                <a:gridCol w="3611880"/>
                <a:gridCol w="2011680"/>
              </a:tblGrid>
              <a:tr h="0">
                <a:tc>
                  <a:txBody>
                    <a:bodyPr/>
                    <a:lstStyle/>
                    <a:p>
                      <a:pPr indent="0" marL="0">
                        <a:buNone/>
                      </a:pPr>
                      <a:r>
                        <a:rPr lang="en-US" sz="1300" b="1" dirty="0">
                          <a:solidFill>
                            <a:schemeClr val="bg1"/>
                          </a:solidFill>
                        </a:rPr>
                        <a:t>Dónde está</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Parámetros</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Clase</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r>
              <a:tr h="0">
                <a:tc>
                  <a:txBody>
                    <a:bodyPr/>
                    <a:lstStyle/>
                    <a:p>
                      <a:pPr indent="0" marL="0">
                        <a:buNone/>
                      </a:pPr>
                      <a:r>
                        <a:rPr lang="en-US" sz="1300" dirty="0">
                          <a:solidFill>
                            <a:schemeClr val="tx1"/>
                          </a:solidFill>
                        </a:rPr>
                        <a:t>Gestionar → Parámetros de proyecto</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PAC_Codigo, PAC_Material, PAC_Resistencia, PAC_Nivel, PAC_Clasificacion</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Compartidos de proyecto</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Información de proyecto</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PAC_Norma_Diseno = NSR-10</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Compartido de proyecto</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Familia P89_ZAP</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ZAP_Lado_B, ZAP_Espesor_h, ZAP_Volumen (fórmula)</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Compartidos en familia</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Familia P89_COL</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COL_Seccion, COL_Altura_Libre (instancia), COL_Refuerzo</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Compartidos en familia</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Familias P89_VCI / P89_COR</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VCI_Seccion, VCI_Eje, VCI_Refuerzo / COR_Perfil, COR_Espesor, COR_Separacion</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Compartidos en familia</a:t>
                      </a:r>
                      <a:endParaRPr lang="en-US" sz="13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bl>
          </a:graphicData>
        </a:graphic>
      </p:graphicFrame>
      <p:sp>
        <p:nvSpPr>
          <p:cNvPr id="9" name="Text 5"/>
          <p:cNvSpPr txBox="1"/>
          <p:nvPr/>
        </p:nvSpPr>
        <p:spPr>
          <a:xfrm>
            <a:off x="3657600" y="4206240"/>
            <a:ext cx="8001000" cy="914400"/>
          </a:xfrm>
          <a:prstGeom prst="rect">
            <a:avLst/>
          </a:prstGeom>
          <a:noFill/>
          <a:ln/>
        </p:spPr>
        <p:txBody>
          <a:bodyPr wrap="square" rtlCol="0" anchor="t"/>
          <a:lstStyle/>
          <a:p>
            <a:pPr indent="0" marL="0">
              <a:buNone/>
            </a:pPr>
            <a:r>
              <a:rPr lang="en-US" sz="1400" b="1" dirty="0">
                <a:solidFill>
                  <a:schemeClr val="tx1"/>
                </a:solidFill>
              </a:rPr>
              <a:t>En la captura: </a:t>
            </a:r>
            <a:pPr indent="0" marL="0">
              <a:buNone/>
            </a:pPr>
            <a:r>
              <a:rPr lang="en-US" sz="1400" dirty="0">
                <a:solidFill>
                  <a:schemeClr val="tx1"/>
                </a:solidFill>
              </a:rPr>
              <a:t>PAC_Nivel_Referencia = N+0,00 (común, instancia), Material estructural = P89 Concreto - Columnas (color azul) y COL_Altura_Libre = 2,75 m (particular, instancia).</a:t>
            </a:r>
            <a:endParaRPr lang="en-US" sz="14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822960"/>
          </a:xfrm>
          <a:prstGeom prst="rect">
            <a:avLst/>
          </a:prstGeom>
          <a:noFill/>
          <a:ln/>
        </p:spPr>
        <p:txBody>
          <a:bodyPr wrap="square" rtlCol="0" anchor="ctr"/>
          <a:lstStyle/>
          <a:p>
            <a:pPr algn="l" indent="0" marL="0">
              <a:buNone/>
            </a:pPr>
            <a:r>
              <a:rPr lang="en-US" sz="3200" b="1" dirty="0">
                <a:solidFill>
                  <a:schemeClr val="tx1"/>
                </a:solidFill>
              </a:rPr>
              <a:t>Validación con un solo Schedule</a:t>
            </a:r>
            <a:endParaRPr lang="en-US" sz="3200" dirty="0"/>
          </a:p>
        </p:txBody>
      </p:sp>
      <p:sp>
        <p:nvSpPr>
          <p:cNvPr id="3" name="tiempo"/>
          <p:cNvSpPr/>
          <p:nvPr/>
        </p:nvSpPr>
        <p:spPr>
          <a:xfrm>
            <a:off x="10241280" y="457200"/>
            <a:ext cx="1417320" cy="502920"/>
          </a:xfrm>
          <a:prstGeom prst="roundRect">
            <a:avLst>
              <a:gd name="adj" fmla="val 21818"/>
            </a:avLst>
          </a:prstGeom>
          <a:solidFill>
            <a:schemeClr val="accent1"/>
          </a:solidFill>
          <a:ln/>
        </p:spPr>
      </p:sp>
      <p:sp>
        <p:nvSpPr>
          <p:cNvPr id="4" name="Text 2"/>
          <p:cNvSpPr txBox="1"/>
          <p:nvPr/>
        </p:nvSpPr>
        <p:spPr>
          <a:xfrm>
            <a:off x="10241280" y="457200"/>
            <a:ext cx="1417320" cy="502920"/>
          </a:xfrm>
          <a:prstGeom prst="rect">
            <a:avLst/>
          </a:prstGeom>
          <a:noFill/>
          <a:ln/>
        </p:spPr>
        <p:txBody>
          <a:bodyPr wrap="square" lIns="0" tIns="0" rIns="0" bIns="0" rtlCol="0" anchor="ctr"/>
          <a:lstStyle/>
          <a:p>
            <a:pPr algn="ctr" indent="0" marL="0">
              <a:buNone/>
            </a:pPr>
            <a:r>
              <a:rPr lang="en-US" sz="1300" b="1" dirty="0">
                <a:solidFill>
                  <a:schemeClr val="bg1"/>
                </a:solidFill>
              </a:rPr>
              <a:t>2:05 – 2:25</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3840480"/>
                <a:gridCol w="1463040"/>
                <a:gridCol w="1463040"/>
              </a:tblGrid>
              <a:tr h="457200">
                <a:tc>
                  <a:txBody>
                    <a:bodyPr/>
                    <a:lstStyle/>
                    <a:p>
                      <a:pPr indent="0" marL="0">
                        <a:buNone/>
                      </a:pPr>
                      <a:r>
                        <a:rPr lang="en-US" sz="1400" b="1" dirty="0">
                          <a:solidFill>
                            <a:schemeClr val="bg1"/>
                          </a:solidFill>
                        </a:rPr>
                        <a:t>Categoría / objeto</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Cantidad</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Comunes PAC_</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tx1"/>
                          </a:solidFill>
                        </a:rPr>
                        <a:t>Zapatas Z-T1 / Z-T2 / Z-T3</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19</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 / 5</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Columnas C-30x30 / 25x40 / 40x25</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19</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 / 5</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Vigas de cimentación VC</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23</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 / 5</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Vigas aéreas VG</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45</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 / 5</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Losa maciza N+3,05</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 paños</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 / 5</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Correas PHR</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24</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 / 5</a:t>
                      </a:r>
                      <a:endParaRPr lang="en-US" sz="1400" dirty="0"/>
                    </a:p>
                  </a:txBody>
                  <a:tcPr marL="91440" marR="91440" marT="45720" marB="45720">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548640" y="4846320"/>
            <a:ext cx="6766560" cy="731520"/>
          </a:xfrm>
          <a:prstGeom prst="rect">
            <a:avLst/>
          </a:prstGeom>
          <a:noFill/>
          <a:ln/>
        </p:spPr>
        <p:txBody>
          <a:bodyPr wrap="square" rtlCol="0" anchor="ctr"/>
          <a:lstStyle/>
          <a:p>
            <a:pPr indent="0" marL="0">
              <a:buNone/>
            </a:pPr>
            <a:r>
              <a:rPr lang="en-US" sz="1300" i="1" dirty="0">
                <a:solidFill>
                  <a:schemeClr val="tx2"/>
                </a:solidFill>
              </a:rPr>
              <a:t>Resumen del Schedule multicategoría P89_ACT03_VALIDACION: un solo campo por parámetro común en todas las categorías.</a:t>
            </a:r>
            <a:endParaRPr lang="en-US" sz="1300" dirty="0"/>
          </a:p>
        </p:txBody>
      </p:sp>
      <p:sp>
        <p:nvSpPr>
          <p:cNvPr id="7" name="Text 4"/>
          <p:cNvSpPr txBox="1"/>
          <p:nvPr/>
        </p:nvSpPr>
        <p:spPr>
          <a:xfrm>
            <a:off x="7680960" y="1417320"/>
            <a:ext cx="3931920" cy="822960"/>
          </a:xfrm>
          <a:prstGeom prst="rect">
            <a:avLst/>
          </a:prstGeom>
          <a:noFill/>
          <a:ln/>
        </p:spPr>
        <p:txBody>
          <a:bodyPr wrap="square" lIns="0" tIns="0" rIns="0" bIns="0" rtlCol="0" anchor="ctr"/>
          <a:lstStyle/>
          <a:p>
            <a:pPr indent="0" marL="0">
              <a:buNone/>
            </a:pPr>
            <a:r>
              <a:rPr lang="en-US" sz="4000" b="1" dirty="0">
                <a:solidFill>
                  <a:schemeClr val="tx1"/>
                </a:solidFill>
              </a:rPr>
              <a:t>19 + 19</a:t>
            </a:r>
            <a:endParaRPr lang="en-US" sz="4000" dirty="0"/>
          </a:p>
        </p:txBody>
      </p:sp>
      <p:sp>
        <p:nvSpPr>
          <p:cNvPr id="8" name="Text 5"/>
          <p:cNvSpPr txBox="1"/>
          <p:nvPr/>
        </p:nvSpPr>
        <p:spPr>
          <a:xfrm>
            <a:off x="7680960" y="2240280"/>
            <a:ext cx="3931920" cy="548640"/>
          </a:xfrm>
          <a:prstGeom prst="rect">
            <a:avLst/>
          </a:prstGeom>
          <a:noFill/>
          <a:ln/>
        </p:spPr>
        <p:txBody>
          <a:bodyPr wrap="square" lIns="0" tIns="0" rIns="0" bIns="0" rtlCol="0" anchor="ctr"/>
          <a:lstStyle/>
          <a:p>
            <a:pPr indent="0" marL="0">
              <a:buNone/>
            </a:pPr>
            <a:r>
              <a:rPr lang="en-US" sz="1400" dirty="0">
                <a:solidFill>
                  <a:schemeClr val="tx2"/>
                </a:solidFill>
              </a:rPr>
              <a:t>zapatas y columnas</a:t>
            </a:r>
            <a:endParaRPr lang="en-US" sz="1400" dirty="0"/>
          </a:p>
        </p:txBody>
      </p:sp>
      <p:sp>
        <p:nvSpPr>
          <p:cNvPr id="9" name="Text 6"/>
          <p:cNvSpPr txBox="1"/>
          <p:nvPr/>
        </p:nvSpPr>
        <p:spPr>
          <a:xfrm>
            <a:off x="7680960" y="3017520"/>
            <a:ext cx="3931920" cy="822960"/>
          </a:xfrm>
          <a:prstGeom prst="rect">
            <a:avLst/>
          </a:prstGeom>
          <a:noFill/>
          <a:ln/>
        </p:spPr>
        <p:txBody>
          <a:bodyPr wrap="square" lIns="0" tIns="0" rIns="0" bIns="0" rtlCol="0" anchor="ctr"/>
          <a:lstStyle/>
          <a:p>
            <a:pPr indent="0" marL="0">
              <a:buNone/>
            </a:pPr>
            <a:r>
              <a:rPr lang="en-US" sz="4000" b="1" dirty="0">
                <a:solidFill>
                  <a:schemeClr val="accent1"/>
                </a:solidFill>
              </a:rPr>
              <a:t>13,72 m³</a:t>
            </a:r>
            <a:endParaRPr lang="en-US" sz="4000" dirty="0"/>
          </a:p>
        </p:txBody>
      </p:sp>
      <p:sp>
        <p:nvSpPr>
          <p:cNvPr id="10" name="Text 7"/>
          <p:cNvSpPr txBox="1"/>
          <p:nvPr/>
        </p:nvSpPr>
        <p:spPr>
          <a:xfrm>
            <a:off x="7680960" y="3840480"/>
            <a:ext cx="3931920" cy="548640"/>
          </a:xfrm>
          <a:prstGeom prst="rect">
            <a:avLst/>
          </a:prstGeom>
          <a:noFill/>
          <a:ln/>
        </p:spPr>
        <p:txBody>
          <a:bodyPr wrap="square" lIns="0" tIns="0" rIns="0" bIns="0" rtlCol="0" anchor="ctr"/>
          <a:lstStyle/>
          <a:p>
            <a:pPr indent="0" marL="0">
              <a:buNone/>
            </a:pPr>
            <a:r>
              <a:rPr lang="en-US" sz="1400" dirty="0">
                <a:solidFill>
                  <a:schemeClr val="tx2"/>
                </a:solidFill>
              </a:rPr>
              <a:t>concreto en zapatas (= hoja VALORES del Excel)</a:t>
            </a:r>
            <a:endParaRPr lang="en-US" sz="1400" dirty="0"/>
          </a:p>
        </p:txBody>
      </p:sp>
      <p:sp>
        <p:nvSpPr>
          <p:cNvPr id="11" name="Text 8"/>
          <p:cNvSpPr txBox="1"/>
          <p:nvPr/>
        </p:nvSpPr>
        <p:spPr>
          <a:xfrm>
            <a:off x="7680960" y="4617720"/>
            <a:ext cx="3931920" cy="822960"/>
          </a:xfrm>
          <a:prstGeom prst="rect">
            <a:avLst/>
          </a:prstGeom>
          <a:noFill/>
          <a:ln/>
        </p:spPr>
        <p:txBody>
          <a:bodyPr wrap="square" lIns="0" tIns="0" rIns="0" bIns="0" rtlCol="0" anchor="ctr"/>
          <a:lstStyle/>
          <a:p>
            <a:pPr indent="0" marL="0">
              <a:buNone/>
            </a:pPr>
            <a:r>
              <a:rPr lang="en-US" sz="4000" b="1" dirty="0">
                <a:solidFill>
                  <a:schemeClr val="tx1"/>
                </a:solidFill>
              </a:rPr>
              <a:t>0</a:t>
            </a:r>
            <a:endParaRPr lang="en-US" sz="4000" dirty="0"/>
          </a:p>
        </p:txBody>
      </p:sp>
      <p:sp>
        <p:nvSpPr>
          <p:cNvPr id="12" name="Text 9"/>
          <p:cNvSpPr txBox="1"/>
          <p:nvPr/>
        </p:nvSpPr>
        <p:spPr>
          <a:xfrm>
            <a:off x="7680960" y="5440680"/>
            <a:ext cx="3931920" cy="548640"/>
          </a:xfrm>
          <a:prstGeom prst="rect">
            <a:avLst/>
          </a:prstGeom>
          <a:noFill/>
          <a:ln/>
        </p:spPr>
        <p:txBody>
          <a:bodyPr wrap="square" lIns="0" tIns="0" rIns="0" bIns="0" rtlCol="0" anchor="ctr"/>
          <a:lstStyle/>
          <a:p>
            <a:pPr indent="0" marL="0">
              <a:buNone/>
            </a:pPr>
            <a:r>
              <a:rPr lang="en-US" sz="1400" dirty="0">
                <a:solidFill>
                  <a:schemeClr val="tx2"/>
                </a:solidFill>
              </a:rPr>
              <a:t>parámetros duplicados</a:t>
            </a:r>
            <a:endParaRPr lang="en-US" sz="1400" dirty="0"/>
          </a:p>
        </p:txBody>
      </p:sp>
      <p:sp>
        <p:nvSpPr>
          <p:cNvPr id="25" name="Slide Number Placeholder 0"/>
          <p:cNvSpPr>
            <a:spLocks noGrp="1"/>
          </p:cNvSpPr>
          <p:nvPr>
            <p:ph type="sldNum" sz="quarter" idx="4294967295"/>
          </p:nvPr>
        </p:nvSpPr>
        <p:spPr>
          <a:xfrm>
            <a:off x="1124712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035040" cy="1737360"/>
          </a:xfrm>
          <a:prstGeom prst="rect">
            <a:avLst/>
          </a:prstGeom>
          <a:noFill/>
          <a:ln/>
        </p:spPr>
        <p:txBody>
          <a:bodyPr wrap="square" rtlCol="0" anchor="b"/>
          <a:lstStyle/>
          <a:p>
            <a:pPr algn="l" indent="0" marL="0">
              <a:buNone/>
            </a:pPr>
            <a:r>
              <a:rPr lang="en-US" sz="4000" b="1" dirty="0">
                <a:solidFill>
                  <a:schemeClr val="bg1"/>
                </a:solidFill>
              </a:rPr>
              <a:t>Conclusiones</a:t>
            </a:r>
            <a:endParaRPr lang="en-US" sz="4000" dirty="0"/>
          </a:p>
        </p:txBody>
      </p:sp>
      <p:sp>
        <p:nvSpPr>
          <p:cNvPr id="3" name="Text 0"/>
          <p:cNvSpPr/>
          <p:nvPr>
            <p:ph idx="101" type="body" hasCustomPrompt="1"/>
          </p:nvPr>
        </p:nvSpPr>
        <p:spPr>
          <a:xfrm>
            <a:off x="640080" y="3383280"/>
            <a:ext cx="6035040" cy="2194560"/>
          </a:xfrm>
          <a:prstGeom prst="rect">
            <a:avLst/>
          </a:prstGeom>
          <a:noFill/>
          <a:ln/>
        </p:spPr>
        <p:txBody>
          <a:bodyPr wrap="square" rtlCol="0" anchor="t"/>
          <a:lstStyle/>
          <a:p>
            <a:pPr marL="342900" indent="-342900">
              <a:spcAft>
                <a:spcPts val="1000"/>
              </a:spcAft>
              <a:buSzPct val="100000"/>
              <a:buChar char="•"/>
            </a:pPr>
            <a:r>
              <a:rPr lang="en-US" sz="1600" dirty="0">
                <a:solidFill>
                  <a:schemeClr val="bg2"/>
                </a:solidFill>
              </a:rPr>
              <a:t>Una matriz, un archivo de parámetros compartidos y un Schedule: la información es consistente entre los objetos.</a:t>
            </a:r>
            <a:endParaRPr lang="en-US" sz="1600" dirty="0"/>
          </a:p>
          <a:p>
            <a:pPr marL="342900" indent="-342900">
              <a:spcAft>
                <a:spcPts val="1000"/>
              </a:spcAft>
              <a:buSzPct val="100000"/>
              <a:buChar char="•"/>
            </a:pPr>
            <a:r>
              <a:rPr lang="en-US" sz="1600" dirty="0">
                <a:solidFill>
                  <a:schemeClr val="bg2"/>
                </a:solidFill>
              </a:rPr>
              <a:t>Tipo e instancia bien separados evitan repetir datos y tipos innecesarios.</a:t>
            </a:r>
            <a:endParaRPr lang="en-US" sz="1600" dirty="0"/>
          </a:p>
          <a:p>
            <a:pPr marL="342900" indent="-342900">
              <a:spcAft>
                <a:spcPts val="1000"/>
              </a:spcAft>
              <a:buSzPct val="100000"/>
              <a:buChar char="•"/>
            </a:pPr>
            <a:r>
              <a:rPr lang="en-US" sz="1600" dirty="0">
                <a:solidFill>
                  <a:schemeClr val="bg2"/>
                </a:solidFill>
              </a:rPr>
              <a:t>La fórmula del volumen muestra el comportamiento paramétrico real del objeto.</a:t>
            </a:r>
            <a:endParaRPr lang="en-US" sz="1600" dirty="0"/>
          </a:p>
        </p:txBody>
      </p:sp>
      <p:sp>
        <p:nvSpPr>
          <p:cNvPr id="4" name="marco"/>
          <p:cNvSpPr/>
          <p:nvPr/>
        </p:nvSpPr>
        <p:spPr>
          <a:xfrm>
            <a:off x="6949440" y="731520"/>
            <a:ext cx="4754880" cy="5029200"/>
          </a:xfrm>
          <a:prstGeom prst="roundRect">
            <a:avLst>
              <a:gd name="adj" fmla="val 2885"/>
            </a:avLst>
          </a:prstGeom>
          <a:solidFill>
            <a:srgbClr val="FFFFFF"/>
          </a:solidFill>
          <a:ln w="12700">
            <a:solidFill>
              <a:srgbClr val="37474F"/>
            </a:solidFill>
            <a:prstDash val="solid"/>
          </a:ln>
        </p:spPr>
      </p:sp>
      <p:pic>
        <p:nvPicPr>
          <p:cNvPr id="5" name="Image 0" descr="Vista 3D P89 ACT03 – Colores por objeto">    </p:cNvPr>
          <p:cNvPicPr>
            <a:picLocks noChangeAspect="1"/>
          </p:cNvPicPr>
          <p:nvPr/>
        </p:nvPicPr>
        <p:blipFill>
          <a:blip r:embed="rId1"/>
          <a:stretch>
            <a:fillRect/>
          </a:stretch>
        </p:blipFill>
        <p:spPr>
          <a:xfrm>
            <a:off x="6949440" y="1501476"/>
            <a:ext cx="4754880" cy="3489289"/>
          </a:xfrm>
          <a:prstGeom prst="rect">
            <a:avLst/>
          </a:prstGeom>
        </p:spPr>
      </p:pic>
      <p:sp>
        <p:nvSpPr>
          <p:cNvPr id="6" name="Text 3"/>
          <p:cNvSpPr txBox="1"/>
          <p:nvPr/>
        </p:nvSpPr>
        <p:spPr>
          <a:xfrm>
            <a:off x="6949440" y="5806440"/>
            <a:ext cx="4754880" cy="320040"/>
          </a:xfrm>
          <a:prstGeom prst="rect">
            <a:avLst/>
          </a:prstGeom>
          <a:noFill/>
          <a:ln/>
        </p:spPr>
        <p:txBody>
          <a:bodyPr wrap="square" lIns="0" tIns="0" rIns="0" bIns="0" rtlCol="0" anchor="ctr"/>
          <a:lstStyle/>
          <a:p>
            <a:pPr algn="ctr" indent="0" marL="0">
              <a:buNone/>
            </a:pPr>
            <a:r>
              <a:rPr lang="en-US" sz="1100" i="1" dirty="0">
                <a:solidFill>
                  <a:schemeClr val="bg2"/>
                </a:solidFill>
              </a:rPr>
              <a:t>Vista 3D P89 ACT03 – Colores por objeto</a:t>
            </a:r>
            <a:endParaRPr lang="en-US" sz="1100" dirty="0"/>
          </a:p>
        </p:txBody>
      </p:sp>
    </p:spTree>
  </p:cSld>
  <p:clrMapOvr>
    <a:masterClrMapping/>
  </p:clrMapOvr>
</p:sld>
</file>

<file path=ppt/theme/theme1.xml><?xml version="1.0" encoding="utf-8"?>
<a:theme xmlns:a="http://schemas.openxmlformats.org/drawingml/2006/main" name="P89 Concreto">
  <a:themeElements>
    <a:clrScheme name="P89 Concreto">
      <a:dk1>
        <a:srgbClr val="1F2A30"/>
      </a:dk1>
      <a:lt1>
        <a:srgbClr val="FFFFFF"/>
      </a:lt1>
      <a:dk2>
        <a:srgbClr val="37474F"/>
      </a:dk2>
      <a:lt2>
        <a:srgbClr val="EEF1F3"/>
      </a:lt2>
      <a:accent1>
        <a:srgbClr val="E8711A"/>
      </a:accent1>
      <a:accent2>
        <a:srgbClr val="1F77B4"/>
      </a:accent2>
      <a:accent3>
        <a:srgbClr val="2CA02C"/>
      </a:accent3>
      <a:accent4>
        <a:srgbClr val="8C8C8C"/>
      </a:accent4>
      <a:accent5>
        <a:srgbClr val="D62728"/>
      </a:accent5>
      <a:accent6>
        <a:srgbClr val="F0C850"/>
      </a:accent6>
      <a:hlink>
        <a:srgbClr val="1F77B4"/>
      </a:hlink>
      <a:folHlink>
        <a:srgbClr val="6D4C41"/>
      </a:folHlink>
    </a:clrScheme>
    <a:fontScheme name="P89 Concret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3 - BIM Parametrizacion</dc:title>
  <dc:subject>PptxGenJS Presentation</dc:subject>
  <dc:creator>Luis David Arroyo Anaya</dc:creator>
  <cp:lastModifiedBy>Luis David Arroyo Anaya</cp:lastModifiedBy>
  <cp:revision>1</cp:revision>
  <dcterms:created xsi:type="dcterms:W3CDTF">2026-10-10T17:15:13Z</dcterms:created>
  <dcterms:modified xsi:type="dcterms:W3CDTF">2026-10-10T17:15:13Z</dcterms:modified>
</cp:coreProperties>
</file>