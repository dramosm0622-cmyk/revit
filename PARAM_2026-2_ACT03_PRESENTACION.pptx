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1e3da74b-978b-f675-71a8-1235c19c424c}">
          <p14:sldIdLst>
            <p14:sldId id="256"/>
          </p14:sldIdLst>
        </p14:section>
        <p14:section name="Paciente y objetos" id="{52324126-db2a-9a36-ae70-6f0be6f2bd47}">
          <p14:sldIdLst>
            <p14:sldId id="257"/>
          </p14:sldIdLst>
        </p14:section>
        <p14:section name="Criterios" id="{4469b227-df06-602e-34e5-6df181ba01a3}">
          <p14:sldIdLst>
            <p14:sldId id="258"/>
            <p14:sldId id="259"/>
          </p14:sldIdLst>
        </p14:section>
        <p14:section name="Implementacion" id="{b3126bf9-1a57-6713-6b80-d899fc3c42ee}">
          <p14:sldIdLst>
            <p14:sldId id="260"/>
            <p14:sldId id="261"/>
          </p14:sldIdLst>
        </p14:section>
        <p14:section name="Validacion" id="{43e6ea59-8755-4bdb-08e0-cc904413b514}">
          <p14:sldIdLst>
            <p14:sldId id="262"/>
          </p14:sldIdLst>
        </p14:section>
        <p14:section name="Cierre" id="{da5154f1-80b8-7e51-67b1-07657424c25a}">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(0:00). "Buenos días. Soy Luis David Arroyo Anaya, de la Maestría en Patología de la Construcción de la Universidad Santo Tomás. Presento la Actividad 3 de BIM Parametrización sobre el mismo paciente de la Actividad 1: la Casa Campestre P-892022 en Turbaco."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PACIENTE (0:00–1:00). "El paciente es una vivienda de dos niveles en ladera, con pórticos de concreto DMI y cubierta en perfilería PHR. Elegí cuatro objetos que forman la cadena de carga: la correa PHR recibe la cubierta, la columna baja la carga, la viga de cimentación amarra las zapatas y la zapata la entrega al suelo. Cada objeto tiene su color: zapatas gris, columnas azul, vigas de cimentación verde y correas rojo. Para completar el modelo agregué las vigas aéreas en naranja y la losa de entrepiso en amarillo. Todo sale de los planos P89-2022: ejes 1 a 8 y A a G, 19 zapatas y 19 columnas."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(1:00–1:30). "La estrategia común usa prefijos: PAC_ para lo común a todo el paciente y ZAP_, COL_, VCI_ y COR_ para lo particular de cada objeto. Los cinco comunes son parámetros compartidos vinculados al proyecto: el mismo GUID en los cuatro objetos, así el Schedule y el IFC los leen como un solo campo. El código y el nivel son de instancia porque cambian pieza a pieza; material, resistencia y clasificación son de tipo. La norma NSR-10 pasó a Información de proyecto para no repetirla en cada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PARTICULARES (1:30–2:00). "Cada objeto tiene máximo tres parámetros particulares, compartidos y guardados dentro de su propia familia. La razón: la viga de cimentación y la correa están en la misma categoría, Armazón estructural; si fueran de proyecto, cada una mostraría los parámetros de la otra. Además retiré lo que Revit ya calcula, como la longitud del tramo o los niveles base y superior, para no duplicar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(2:00–3:00). Mostrar en Revit: editar la familia P89_ZAP_Zapata_Aislada y abrir Tipos de familia. "Aquí está la relación: el volumen de concreto es lado por lado por espesor. Además la anchura y la longitud dependen de ZAP_Lado_B, así que la geometría también es paramétrica." Volver al proyecto, Editar tipo de Z-T1, cambiar ZAP_Lado_B de 1,30 a 1,50: "la zapata crece y el volumen pasa de 0,592 a 0,788 metros cúbicos". Regresar a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IMPLEMENTACION (3:00–4:00). "En Gestionar, Parámetros de proyecto están los cinco PAC_ vinculados a cimentación, pilares, armazón y suelos. En una columna se ve COL_Altura_Libre como parámetro de instancia: 2,75 m en las que llegan a N+3,05 y 5,75 m en las que suben a N+6,05. Cada objeto tiene su material con color propio, lo que facilita reconocerlo en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(4:00–4:40). Abrir P89_ACT03_VALIDACION. "Es un Schedule multicategoría. Muestra que los cinco parámetros comunes están llenos en todas las categorías y que cada objeto tiene solo sus particulares. Los conteos y volúmenes coinciden con la matriz en Excel: 19 zapatas, 19 columnas y 13,72 metros cúbicos de concreto en zapatas."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CONCLUSIONES (4:40–5:00). "En conclusión: con una sola matriz, un solo archivo de parámetros compartidos y un solo Schedule, la información de los objetos del paciente queda consistente y sin duplicados. La diferencia entre tipo e instancia evita repetir datos, y la fórmula del volumen muestra el comportamiento paramétrico.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241280" cy="320040"/>
          </a:xfrm>
          <a:prstGeom prst="rect">
            <a:avLst/>
          </a:prstGeom>
          <a:noFill/>
          <a:ln/>
        </p:spPr>
        <p:txBody>
          <a:bodyPr wrap="square" rtlCol="0" anchor="ctr"/>
          <a:lstStyle/>
          <a:p>
            <a:pPr indent="0" marL="0">
              <a:buNone/>
            </a:pPr>
            <a:r>
              <a:rPr lang="en-US" sz="1000" dirty="0">
                <a:solidFill>
                  <a:schemeClr val="tx2"/>
                </a:solidFill>
              </a:rPr>
              <a:t>Luis David Arroyo Anaya · Maestría en Patología de la Construcción · Facultad de Ingeniería Civil · Universidad Santo Tomás</a:t>
            </a:r>
            <a:endParaRPr lang="en-US" sz="10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nchor="b"/>
          <a:lstStyle/>
          <a:p>
            <a:pPr algn="l" indent="0" marL="0">
              <a:buNone/>
            </a:pPr>
            <a:r>
              <a:rPr lang="en-US" sz="4000" b="1" dirty="0">
                <a:solidFill>
                  <a:schemeClr val="bg1"/>
                </a:solidFill>
              </a:rPr>
              <a:t>Actividad 3 · BIM Parametrización</a:t>
            </a: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nchor="t"/>
          <a:lstStyle/>
          <a:p>
            <a:pPr indent="0" marL="0">
              <a:buNone/>
            </a:pPr>
            <a:r>
              <a:rPr lang="en-US" sz="1600" dirty="0">
                <a:solidFill>
                  <a:schemeClr val="bg2"/>
                </a:solidFill>
              </a:rPr>
              <a:t>Paciente: Casa Campestre P-892022 · Cañaveral, Turbaco (Bolívar)</a:t>
            </a:r>
            <a:endParaRPr lang="en-US" sz="1600" dirty="0"/>
          </a:p>
          <a:p>
            <a:pPr indent="0" marL="0">
              <a:buNone/>
            </a:pPr>
            <a:r>
              <a:rPr lang="en-US" sz="1600" dirty="0">
                <a:solidFill>
                  <a:schemeClr val="bg2"/>
                </a:solidFill>
              </a:rPr>
              <a:t> </a:t>
            </a:r>
            <a:endParaRPr lang="en-US" sz="1600" dirty="0"/>
          </a:p>
          <a:p>
            <a:pPr indent="0" marL="0">
              <a:buNone/>
            </a:pPr>
            <a:r>
              <a:rPr lang="en-US" sz="1600" b="1" dirty="0">
                <a:solidFill>
                  <a:schemeClr val="bg2"/>
                </a:solidFill>
              </a:rPr>
              <a:t>Luis David Arroyo Anaya</a:t>
            </a:r>
            <a:endParaRPr lang="en-US" sz="1600" dirty="0"/>
          </a:p>
          <a:p>
            <a:pPr indent="0" marL="0">
              <a:buNone/>
            </a:pPr>
            <a:r>
              <a:rPr lang="en-US" sz="1600" dirty="0">
                <a:solidFill>
                  <a:schemeClr val="bg2"/>
                </a:solidFill>
              </a:rPr>
              <a:t>Maestría en Patología de la Construcción</a:t>
            </a:r>
            <a:endParaRPr lang="en-US" sz="1600" dirty="0"/>
          </a:p>
          <a:p>
            <a:pPr indent="0" marL="0">
              <a:buNone/>
            </a:pPr>
            <a:r>
              <a:rPr lang="en-US" sz="1600" dirty="0">
                <a:solidFill>
                  <a:schemeClr val="bg2"/>
                </a:solidFill>
              </a:rPr>
              <a:t>Facultad de Ingeniería Civil · Universidad Santo Tomás</a:t>
            </a:r>
            <a:endParaRPr lang="en-US" sz="1600" dirty="0"/>
          </a:p>
        </p:txBody>
      </p:sp>
      <p:sp>
        <p:nvSpPr>
          <p:cNvPr id="4" name="imagen"/>
          <p:cNvSpPr/>
          <p:nvPr/>
        </p:nvSpPr>
        <p:spPr>
          <a:xfrm>
            <a:off x="7132320" y="822960"/>
            <a:ext cx="4480560" cy="5120640"/>
          </a:xfrm>
          <a:prstGeom prst="roundRect">
            <a:avLst>
              <a:gd name="adj" fmla="val 3061"/>
            </a:avLst>
          </a:prstGeom>
          <a:solidFill>
            <a:schemeClr val="tx2"/>
          </a:solidFill>
          <a:ln w="15875">
            <a:solidFill>
              <a:schemeClr val="bg2"/>
            </a:solidFill>
            <a:prstDash val="dash"/>
          </a:ln>
        </p:spPr>
      </p:sp>
      <p:sp>
        <p:nvSpPr>
          <p:cNvPr id="5" name="Text 3"/>
          <p:cNvSpPr txBox="1"/>
          <p:nvPr/>
        </p:nvSpPr>
        <p:spPr>
          <a:xfrm>
            <a:off x="7315200" y="822960"/>
            <a:ext cx="4114800" cy="5120640"/>
          </a:xfrm>
          <a:prstGeom prst="rect">
            <a:avLst/>
          </a:prstGeom>
          <a:noFill/>
          <a:ln/>
        </p:spPr>
        <p:txBody>
          <a:bodyPr wrap="square" rtlCol="0" anchor="ctr"/>
          <a:lstStyle/>
          <a:p>
            <a:pPr algn="ctr" indent="0" marL="0">
              <a:buNone/>
            </a:pPr>
            <a:r>
              <a:rPr lang="en-US" sz="1300" b="1" dirty="0">
                <a:solidFill>
                  <a:schemeClr val="bg2"/>
                </a:solidFill>
              </a:rPr>
              <a:t>INSERTE AQUÍ SU IMAGEN</a:t>
            </a:r>
            <a:endParaRPr lang="en-US" sz="1300" dirty="0"/>
          </a:p>
          <a:p>
            <a:pPr algn="ctr" indent="0" marL="0">
              <a:buNone/>
            </a:pPr>
            <a:r>
              <a:rPr lang="en-US" sz="1300" dirty="0">
                <a:solidFill>
                  <a:schemeClr val="bg2"/>
                </a:solidFill>
              </a:rPr>
              <a:t>Vista "3D P89 ACT03 - Colores por objeto"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Cuatro objetos, una cadena de carga</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0:00 – 1:00</a:t>
            </a:r>
            <a:endParaRPr lang="en-US" sz="1300" dirty="0"/>
          </a:p>
        </p:txBody>
      </p:sp>
      <p:sp>
        <p:nvSpPr>
          <p:cNvPr id="5" name="objeto1"/>
          <p:cNvSpPr/>
          <p:nvPr/>
        </p:nvSpPr>
        <p:spPr>
          <a:xfrm>
            <a:off x="548640" y="1417320"/>
            <a:ext cx="5120640" cy="914400"/>
          </a:xfrm>
          <a:prstGeom prst="roundRect">
            <a:avLst>
              <a:gd name="adj" fmla="val 12000"/>
            </a:avLst>
          </a:prstGeom>
          <a:solidFill>
            <a:schemeClr val="bg2"/>
          </a:solidFill>
          <a:ln/>
        </p:spPr>
      </p:sp>
      <p:sp>
        <p:nvSpPr>
          <p:cNvPr id="6" name="Shape 4"/>
          <p:cNvSpPr/>
          <p:nvPr/>
        </p:nvSpPr>
        <p:spPr>
          <a:xfrm>
            <a:off x="777240" y="1728216"/>
            <a:ext cx="292608" cy="292608"/>
          </a:xfrm>
          <a:prstGeom prst="ellipse">
            <a:avLst/>
          </a:prstGeom>
          <a:solidFill>
            <a:srgbClr val="D62728"/>
          </a:solidFill>
          <a:ln w="12700">
            <a:solidFill>
              <a:srgbClr val="D62728"/>
            </a:solidFill>
            <a:prstDash val="solid"/>
          </a:ln>
        </p:spPr>
      </p:sp>
      <p:sp>
        <p:nvSpPr>
          <p:cNvPr id="7" name="Text 5"/>
          <p:cNvSpPr txBox="1"/>
          <p:nvPr/>
        </p:nvSpPr>
        <p:spPr>
          <a:xfrm>
            <a:off x="1234440" y="1417320"/>
            <a:ext cx="4297680" cy="914400"/>
          </a:xfrm>
          <a:prstGeom prst="rect">
            <a:avLst/>
          </a:prstGeom>
          <a:noFill/>
          <a:ln/>
        </p:spPr>
        <p:txBody>
          <a:bodyPr wrap="square" rtlCol="0" anchor="ctr"/>
          <a:lstStyle/>
          <a:p>
            <a:pPr indent="0" marL="0">
              <a:buNone/>
            </a:pPr>
            <a:r>
              <a:rPr lang="en-US" sz="1700" b="1" dirty="0">
                <a:solidFill>
                  <a:schemeClr val="tx1"/>
                </a:solidFill>
              </a:rPr>
              <a:t>Correa PHR C 160x60x20</a:t>
            </a:r>
            <a:endParaRPr lang="en-US" sz="1700" dirty="0"/>
          </a:p>
          <a:p>
            <a:pPr indent="0" marL="0">
              <a:buNone/>
            </a:pPr>
            <a:r>
              <a:rPr lang="en-US" sz="1400" dirty="0">
                <a:solidFill>
                  <a:schemeClr val="tx2"/>
                </a:solidFill>
              </a:rPr>
              <a:t>Recibe la cubierta</a:t>
            </a:r>
            <a:endParaRPr lang="en-US" sz="1700" dirty="0"/>
          </a:p>
        </p:txBody>
      </p:sp>
      <p:sp>
        <p:nvSpPr>
          <p:cNvPr id="8" name="Text 6"/>
          <p:cNvSpPr txBox="1"/>
          <p:nvPr/>
        </p:nvSpPr>
        <p:spPr>
          <a:xfrm>
            <a:off x="2834640" y="2313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9" name="objeto2"/>
          <p:cNvSpPr/>
          <p:nvPr/>
        </p:nvSpPr>
        <p:spPr>
          <a:xfrm>
            <a:off x="548640" y="2560320"/>
            <a:ext cx="5120640" cy="914400"/>
          </a:xfrm>
          <a:prstGeom prst="roundRect">
            <a:avLst>
              <a:gd name="adj" fmla="val 12000"/>
            </a:avLst>
          </a:prstGeom>
          <a:solidFill>
            <a:schemeClr val="bg2"/>
          </a:solidFill>
          <a:ln/>
        </p:spPr>
      </p:sp>
      <p:sp>
        <p:nvSpPr>
          <p:cNvPr id="10" name="Shape 8"/>
          <p:cNvSpPr/>
          <p:nvPr/>
        </p:nvSpPr>
        <p:spPr>
          <a:xfrm>
            <a:off x="777240" y="2871216"/>
            <a:ext cx="292608" cy="292608"/>
          </a:xfrm>
          <a:prstGeom prst="ellipse">
            <a:avLst/>
          </a:prstGeom>
          <a:solidFill>
            <a:srgbClr val="1F77B4"/>
          </a:solidFill>
          <a:ln w="12700">
            <a:solidFill>
              <a:srgbClr val="1F77B4"/>
            </a:solidFill>
            <a:prstDash val="solid"/>
          </a:ln>
        </p:spPr>
      </p:sp>
      <p:sp>
        <p:nvSpPr>
          <p:cNvPr id="11" name="Text 9"/>
          <p:cNvSpPr txBox="1"/>
          <p:nvPr/>
        </p:nvSpPr>
        <p:spPr>
          <a:xfrm>
            <a:off x="1234440" y="2560320"/>
            <a:ext cx="4297680" cy="914400"/>
          </a:xfrm>
          <a:prstGeom prst="rect">
            <a:avLst/>
          </a:prstGeom>
          <a:noFill/>
          <a:ln/>
        </p:spPr>
        <p:txBody>
          <a:bodyPr wrap="square" rtlCol="0" anchor="ctr"/>
          <a:lstStyle/>
          <a:p>
            <a:pPr indent="0" marL="0">
              <a:buNone/>
            </a:pPr>
            <a:r>
              <a:rPr lang="en-US" sz="1700" b="1" dirty="0">
                <a:solidFill>
                  <a:schemeClr val="tx1"/>
                </a:solidFill>
              </a:rPr>
              <a:t>Columna de concreto</a:t>
            </a:r>
            <a:endParaRPr lang="en-US" sz="1700" dirty="0"/>
          </a:p>
          <a:p>
            <a:pPr indent="0" marL="0">
              <a:buNone/>
            </a:pPr>
            <a:r>
              <a:rPr lang="en-US" sz="1400" dirty="0">
                <a:solidFill>
                  <a:schemeClr val="tx2"/>
                </a:solidFill>
              </a:rPr>
              <a:t>Baja la carga (19 und.)</a:t>
            </a:r>
            <a:endParaRPr lang="en-US" sz="1700" dirty="0"/>
          </a:p>
        </p:txBody>
      </p:sp>
      <p:sp>
        <p:nvSpPr>
          <p:cNvPr id="12" name="Text 10"/>
          <p:cNvSpPr txBox="1"/>
          <p:nvPr/>
        </p:nvSpPr>
        <p:spPr>
          <a:xfrm>
            <a:off x="2834640" y="3456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13" name="objeto3"/>
          <p:cNvSpPr/>
          <p:nvPr/>
        </p:nvSpPr>
        <p:spPr>
          <a:xfrm>
            <a:off x="548640" y="3703320"/>
            <a:ext cx="5120640" cy="914400"/>
          </a:xfrm>
          <a:prstGeom prst="roundRect">
            <a:avLst>
              <a:gd name="adj" fmla="val 12000"/>
            </a:avLst>
          </a:prstGeom>
          <a:solidFill>
            <a:schemeClr val="bg2"/>
          </a:solidFill>
          <a:ln/>
        </p:spPr>
      </p:sp>
      <p:sp>
        <p:nvSpPr>
          <p:cNvPr id="14" name="Shape 12"/>
          <p:cNvSpPr/>
          <p:nvPr/>
        </p:nvSpPr>
        <p:spPr>
          <a:xfrm>
            <a:off x="777240" y="4014216"/>
            <a:ext cx="292608" cy="292608"/>
          </a:xfrm>
          <a:prstGeom prst="ellipse">
            <a:avLst/>
          </a:prstGeom>
          <a:solidFill>
            <a:srgbClr val="2CA02C"/>
          </a:solidFill>
          <a:ln w="12700">
            <a:solidFill>
              <a:srgbClr val="2CA02C"/>
            </a:solidFill>
            <a:prstDash val="solid"/>
          </a:ln>
        </p:spPr>
      </p:sp>
      <p:sp>
        <p:nvSpPr>
          <p:cNvPr id="15" name="Text 13"/>
          <p:cNvSpPr txBox="1"/>
          <p:nvPr/>
        </p:nvSpPr>
        <p:spPr>
          <a:xfrm>
            <a:off x="1234440" y="3703320"/>
            <a:ext cx="4297680" cy="914400"/>
          </a:xfrm>
          <a:prstGeom prst="rect">
            <a:avLst/>
          </a:prstGeom>
          <a:noFill/>
          <a:ln/>
        </p:spPr>
        <p:txBody>
          <a:bodyPr wrap="square" rtlCol="0" anchor="ctr"/>
          <a:lstStyle/>
          <a:p>
            <a:pPr indent="0" marL="0">
              <a:buNone/>
            </a:pPr>
            <a:r>
              <a:rPr lang="en-US" sz="1700" b="1" dirty="0">
                <a:solidFill>
                  <a:schemeClr val="tx1"/>
                </a:solidFill>
              </a:rPr>
              <a:t>Viga de cimentación VC</a:t>
            </a:r>
            <a:endParaRPr lang="en-US" sz="1700" dirty="0"/>
          </a:p>
          <a:p>
            <a:pPr indent="0" marL="0">
              <a:buNone/>
            </a:pPr>
            <a:r>
              <a:rPr lang="en-US" sz="1400" dirty="0">
                <a:solidFill>
                  <a:schemeClr val="tx2"/>
                </a:solidFill>
              </a:rPr>
              <a:t>Amarra las zapatas (23 tramos)</a:t>
            </a:r>
            <a:endParaRPr lang="en-US" sz="1700" dirty="0"/>
          </a:p>
        </p:txBody>
      </p:sp>
      <p:sp>
        <p:nvSpPr>
          <p:cNvPr id="16" name="Text 14"/>
          <p:cNvSpPr txBox="1"/>
          <p:nvPr/>
        </p:nvSpPr>
        <p:spPr>
          <a:xfrm>
            <a:off x="2834640" y="4599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17" name="objeto4"/>
          <p:cNvSpPr/>
          <p:nvPr/>
        </p:nvSpPr>
        <p:spPr>
          <a:xfrm>
            <a:off x="548640" y="4846320"/>
            <a:ext cx="5120640" cy="914400"/>
          </a:xfrm>
          <a:prstGeom prst="roundRect">
            <a:avLst>
              <a:gd name="adj" fmla="val 12000"/>
            </a:avLst>
          </a:prstGeom>
          <a:solidFill>
            <a:schemeClr val="bg2"/>
          </a:solidFill>
          <a:ln/>
        </p:spPr>
      </p:sp>
      <p:sp>
        <p:nvSpPr>
          <p:cNvPr id="18" name="Shape 16"/>
          <p:cNvSpPr/>
          <p:nvPr/>
        </p:nvSpPr>
        <p:spPr>
          <a:xfrm>
            <a:off x="777240" y="5157216"/>
            <a:ext cx="292608" cy="292608"/>
          </a:xfrm>
          <a:prstGeom prst="ellipse">
            <a:avLst/>
          </a:prstGeom>
          <a:solidFill>
            <a:srgbClr val="8C8C8C"/>
          </a:solidFill>
          <a:ln w="12700">
            <a:solidFill>
              <a:srgbClr val="8C8C8C"/>
            </a:solidFill>
            <a:prstDash val="solid"/>
          </a:ln>
        </p:spPr>
      </p:sp>
      <p:sp>
        <p:nvSpPr>
          <p:cNvPr id="19" name="Text 17"/>
          <p:cNvSpPr txBox="1"/>
          <p:nvPr/>
        </p:nvSpPr>
        <p:spPr>
          <a:xfrm>
            <a:off x="1234440" y="4846320"/>
            <a:ext cx="4297680" cy="914400"/>
          </a:xfrm>
          <a:prstGeom prst="rect">
            <a:avLst/>
          </a:prstGeom>
          <a:noFill/>
          <a:ln/>
        </p:spPr>
        <p:txBody>
          <a:bodyPr wrap="square" rtlCol="0" anchor="ctr"/>
          <a:lstStyle/>
          <a:p>
            <a:pPr indent="0" marL="0">
              <a:buNone/>
            </a:pPr>
            <a:r>
              <a:rPr lang="en-US" sz="1700" b="1" dirty="0">
                <a:solidFill>
                  <a:schemeClr val="tx1"/>
                </a:solidFill>
              </a:rPr>
              <a:t>Zapata aislada</a:t>
            </a:r>
            <a:endParaRPr lang="en-US" sz="1700" dirty="0"/>
          </a:p>
          <a:p>
            <a:pPr indent="0" marL="0">
              <a:buNone/>
            </a:pPr>
            <a:r>
              <a:rPr lang="en-US" sz="1400" dirty="0">
                <a:solidFill>
                  <a:schemeClr val="tx2"/>
                </a:solidFill>
              </a:rPr>
              <a:t>Entrega al suelo (19 und.)</a:t>
            </a:r>
            <a:endParaRPr lang="en-US" sz="1700" dirty="0"/>
          </a:p>
        </p:txBody>
      </p:sp>
      <p:sp>
        <p:nvSpPr>
          <p:cNvPr id="20" name="Text 18"/>
          <p:cNvSpPr txBox="1"/>
          <p:nvPr/>
        </p:nvSpPr>
        <p:spPr>
          <a:xfrm>
            <a:off x="548640" y="5943600"/>
            <a:ext cx="5303520" cy="365760"/>
          </a:xfrm>
          <a:prstGeom prst="rect">
            <a:avLst/>
          </a:prstGeom>
          <a:noFill/>
          <a:ln/>
        </p:spPr>
        <p:txBody>
          <a:bodyPr wrap="square" rtlCol="0" anchor="ctr"/>
          <a:lstStyle/>
          <a:p>
            <a:pPr indent="0" marL="0">
              <a:buNone/>
            </a:pPr>
            <a:r>
              <a:rPr lang="en-US" sz="1200" i="1" dirty="0">
                <a:solidFill>
                  <a:schemeClr val="tx2"/>
                </a:solidFill>
              </a:rPr>
              <a:t>Complementan el modelo: vigas aéreas VG (naranja) y losa maciza N+3,05 (amarillo).</a:t>
            </a:r>
            <a:endParaRPr lang="en-US" sz="1200" dirty="0"/>
          </a:p>
        </p:txBody>
      </p:sp>
      <p:sp>
        <p:nvSpPr>
          <p:cNvPr id="21" name="imagen"/>
          <p:cNvSpPr/>
          <p:nvPr/>
        </p:nvSpPr>
        <p:spPr>
          <a:xfrm>
            <a:off x="6126480" y="1417320"/>
            <a:ext cx="5486400" cy="4846320"/>
          </a:xfrm>
          <a:prstGeom prst="roundRect">
            <a:avLst>
              <a:gd name="adj" fmla="val 2830"/>
            </a:avLst>
          </a:prstGeom>
          <a:solidFill>
            <a:schemeClr val="bg2"/>
          </a:solidFill>
          <a:ln w="15875">
            <a:solidFill>
              <a:schemeClr val="tx2"/>
            </a:solidFill>
            <a:prstDash val="dash"/>
          </a:ln>
        </p:spPr>
      </p:sp>
      <p:sp>
        <p:nvSpPr>
          <p:cNvPr id="22" name="Text 20"/>
          <p:cNvSpPr txBox="1"/>
          <p:nvPr/>
        </p:nvSpPr>
        <p:spPr>
          <a:xfrm>
            <a:off x="6309360" y="1417320"/>
            <a:ext cx="5120640" cy="484632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Vista 3D a color del modelo o Planta de cimentación con ejes 1–8 / A–G</a:t>
            </a:r>
            <a:endParaRPr lang="en-US" sz="13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Estrategia común: 5 parámetros PAC_</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1:00 – 2:00</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291840"/>
                <a:gridCol w="1554480"/>
                <a:gridCol w="1188720"/>
              </a:tblGrid>
              <a:tr h="457200">
                <a:tc>
                  <a:txBody>
                    <a:bodyPr/>
                    <a:lstStyle/>
                    <a:p>
                      <a:pPr indent="0" marL="0">
                        <a:buNone/>
                      </a:pPr>
                      <a:r>
                        <a:rPr lang="en-US" sz="1400" b="1" dirty="0">
                          <a:solidFill>
                            <a:schemeClr val="bg1"/>
                          </a:solidFill>
                        </a:rPr>
                        <a:t>Parámetro común</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Tipo / 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Dato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PAC_Codigo_Elemento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PAC_Material_Estructural</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PAC_Resistencia_MPa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Número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PAC_Nivel_Referencia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PAC_Clasificacion_IFC_Uniclass</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bl>
          </a:graphicData>
        </a:graphic>
      </p:graphicFrame>
      <p:sp>
        <p:nvSpPr>
          <p:cNvPr id="6" name="Shape 3"/>
          <p:cNvSpPr/>
          <p:nvPr/>
        </p:nvSpPr>
        <p:spPr>
          <a:xfrm>
            <a:off x="7040880" y="1463040"/>
            <a:ext cx="502920" cy="502920"/>
          </a:xfrm>
          <a:prstGeom prst="ellipse">
            <a:avLst/>
          </a:prstGeom>
          <a:solidFill>
            <a:schemeClr val="accent1"/>
          </a:solidFill>
          <a:ln/>
        </p:spPr>
      </p:sp>
      <p:sp>
        <p:nvSpPr>
          <p:cNvPr id="7" name="Text 4"/>
          <p:cNvSpPr txBox="1"/>
          <p:nvPr/>
        </p:nvSpPr>
        <p:spPr>
          <a:xfrm>
            <a:off x="7040880"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26680" y="141732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Compartidos + de proyecto</a:t>
            </a:r>
            <a:endParaRPr lang="en-US" sz="1700" dirty="0"/>
          </a:p>
          <a:p>
            <a:pPr indent="0" marL="0">
              <a:buNone/>
            </a:pPr>
            <a:r>
              <a:rPr lang="en-US" sz="1400" dirty="0">
                <a:solidFill>
                  <a:schemeClr val="tx2"/>
                </a:solidFill>
              </a:rPr>
              <a:t>Un solo GUID en los 4 objetos: el Schedule y el IFC los leen como un solo campo.</a:t>
            </a:r>
            <a:endParaRPr lang="en-US" sz="1700" dirty="0"/>
          </a:p>
        </p:txBody>
      </p:sp>
      <p:sp>
        <p:nvSpPr>
          <p:cNvPr id="9" name="Shape 6"/>
          <p:cNvSpPr/>
          <p:nvPr/>
        </p:nvSpPr>
        <p:spPr>
          <a:xfrm>
            <a:off x="7040880" y="2926080"/>
            <a:ext cx="502920" cy="502920"/>
          </a:xfrm>
          <a:prstGeom prst="ellipse">
            <a:avLst/>
          </a:prstGeom>
          <a:solidFill>
            <a:schemeClr val="accent1"/>
          </a:solidFill>
          <a:ln/>
        </p:spPr>
      </p:sp>
      <p:sp>
        <p:nvSpPr>
          <p:cNvPr id="10" name="Text 7"/>
          <p:cNvSpPr txBox="1"/>
          <p:nvPr/>
        </p:nvSpPr>
        <p:spPr>
          <a:xfrm>
            <a:off x="7040880" y="2926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726680" y="288036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Tipo vs. instancia</a:t>
            </a:r>
            <a:endParaRPr lang="en-US" sz="1700" dirty="0"/>
          </a:p>
          <a:p>
            <a:pPr indent="0" marL="0">
              <a:buNone/>
            </a:pPr>
            <a:r>
              <a:rPr lang="en-US" sz="1400" dirty="0">
                <a:solidFill>
                  <a:schemeClr val="tx2"/>
                </a:solidFill>
              </a:rPr>
              <a:t>Tipo = igual en todo el tipo (material, f'c). Instancia = cambia pieza a pieza (código, nivel).</a:t>
            </a:r>
            <a:endParaRPr lang="en-US" sz="1700" dirty="0"/>
          </a:p>
        </p:txBody>
      </p:sp>
      <p:sp>
        <p:nvSpPr>
          <p:cNvPr id="12" name="Shape 9"/>
          <p:cNvSpPr/>
          <p:nvPr/>
        </p:nvSpPr>
        <p:spPr>
          <a:xfrm>
            <a:off x="7040880" y="4389120"/>
            <a:ext cx="502920" cy="502920"/>
          </a:xfrm>
          <a:prstGeom prst="ellipse">
            <a:avLst/>
          </a:prstGeom>
          <a:solidFill>
            <a:schemeClr val="accent1"/>
          </a:solidFill>
          <a:ln/>
        </p:spPr>
      </p:sp>
      <p:sp>
        <p:nvSpPr>
          <p:cNvPr id="13" name="Text 10"/>
          <p:cNvSpPr txBox="1"/>
          <p:nvPr/>
        </p:nvSpPr>
        <p:spPr>
          <a:xfrm>
            <a:off x="7040880" y="4389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7726680" y="434340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Sin duplicados</a:t>
            </a:r>
            <a:endParaRPr lang="en-US" sz="1700" dirty="0"/>
          </a:p>
          <a:p>
            <a:pPr indent="0" marL="0">
              <a:buNone/>
            </a:pPr>
            <a:r>
              <a:rPr lang="en-US" sz="1400" dirty="0">
                <a:solidFill>
                  <a:schemeClr val="tx2"/>
                </a:solidFill>
              </a:rPr>
              <a:t>NSR-10 va una vez en Información de proyecto; no se repiten datos que Revit ya calcula.</a:t>
            </a:r>
            <a:endParaRPr lang="en-US" sz="17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Tres parámetros particulares por objeto</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1:30 – 2:00</a:t>
            </a:r>
            <a:endParaRPr lang="en-US" sz="1300" dirty="0"/>
          </a:p>
        </p:txBody>
      </p:sp>
      <p:sp>
        <p:nvSpPr>
          <p:cNvPr id="5" name="particular1"/>
          <p:cNvSpPr/>
          <p:nvPr/>
        </p:nvSpPr>
        <p:spPr>
          <a:xfrm>
            <a:off x="548640" y="1371600"/>
            <a:ext cx="5440680" cy="1600200"/>
          </a:xfrm>
          <a:prstGeom prst="roundRect">
            <a:avLst>
              <a:gd name="adj" fmla="val 6857"/>
            </a:avLst>
          </a:prstGeom>
          <a:solidFill>
            <a:schemeClr val="bg2"/>
          </a:solidFill>
          <a:ln/>
        </p:spPr>
      </p:sp>
      <p:sp>
        <p:nvSpPr>
          <p:cNvPr id="6" name="Shape 4"/>
          <p:cNvSpPr/>
          <p:nvPr/>
        </p:nvSpPr>
        <p:spPr>
          <a:xfrm>
            <a:off x="777240" y="1600200"/>
            <a:ext cx="292608" cy="292608"/>
          </a:xfrm>
          <a:prstGeom prst="ellipse">
            <a:avLst/>
          </a:prstGeom>
          <a:solidFill>
            <a:srgbClr val="8C8C8C"/>
          </a:solidFill>
          <a:ln w="12700">
            <a:solidFill>
              <a:srgbClr val="8C8C8C"/>
            </a:solidFill>
            <a:prstDash val="solid"/>
          </a:ln>
        </p:spPr>
      </p:sp>
      <p:sp>
        <p:nvSpPr>
          <p:cNvPr id="7" name="Text 5"/>
          <p:cNvSpPr txBox="1"/>
          <p:nvPr/>
        </p:nvSpPr>
        <p:spPr>
          <a:xfrm>
            <a:off x="1188720" y="150876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Zapata</a:t>
            </a:r>
            <a:endParaRPr lang="en-US" sz="1800" dirty="0"/>
          </a:p>
        </p:txBody>
      </p:sp>
      <p:sp>
        <p:nvSpPr>
          <p:cNvPr id="8" name="Text 6"/>
          <p:cNvSpPr txBox="1"/>
          <p:nvPr/>
        </p:nvSpPr>
        <p:spPr>
          <a:xfrm>
            <a:off x="1051560" y="196596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ZAP_Lado_B  (T)</a:t>
            </a:r>
            <a:endParaRPr lang="en-US" sz="1400" dirty="0"/>
          </a:p>
          <a:p>
            <a:pPr marL="342900" indent="-342900">
              <a:buSzPct val="100000"/>
              <a:buChar char="•"/>
            </a:pPr>
            <a:r>
              <a:rPr lang="en-US" sz="1400" dirty="0">
                <a:solidFill>
                  <a:schemeClr val="tx1"/>
                </a:solidFill>
              </a:rPr>
              <a:t>ZAP_Espesor_h  (T)</a:t>
            </a:r>
            <a:endParaRPr lang="en-US" sz="1400" dirty="0"/>
          </a:p>
          <a:p>
            <a:pPr marL="342900" indent="-342900">
              <a:buSzPct val="100000"/>
              <a:buChar char="•"/>
            </a:pPr>
            <a:r>
              <a:rPr lang="en-US" sz="1400" dirty="0">
                <a:solidFill>
                  <a:schemeClr val="tx1"/>
                </a:solidFill>
              </a:rPr>
              <a:t>ZAP_Volumen_Concreto  (T, fórmula)</a:t>
            </a:r>
            <a:endParaRPr lang="en-US" sz="1400" dirty="0"/>
          </a:p>
        </p:txBody>
      </p:sp>
      <p:sp>
        <p:nvSpPr>
          <p:cNvPr id="9" name="particular2"/>
          <p:cNvSpPr/>
          <p:nvPr/>
        </p:nvSpPr>
        <p:spPr>
          <a:xfrm>
            <a:off x="6172200" y="1371600"/>
            <a:ext cx="5440680" cy="1600200"/>
          </a:xfrm>
          <a:prstGeom prst="roundRect">
            <a:avLst>
              <a:gd name="adj" fmla="val 6857"/>
            </a:avLst>
          </a:prstGeom>
          <a:solidFill>
            <a:schemeClr val="bg2"/>
          </a:solidFill>
          <a:ln/>
        </p:spPr>
      </p:sp>
      <p:sp>
        <p:nvSpPr>
          <p:cNvPr id="10" name="Shape 8"/>
          <p:cNvSpPr/>
          <p:nvPr/>
        </p:nvSpPr>
        <p:spPr>
          <a:xfrm>
            <a:off x="6400800" y="1600200"/>
            <a:ext cx="292608" cy="292608"/>
          </a:xfrm>
          <a:prstGeom prst="ellipse">
            <a:avLst/>
          </a:prstGeom>
          <a:solidFill>
            <a:srgbClr val="1F77B4"/>
          </a:solidFill>
          <a:ln w="12700">
            <a:solidFill>
              <a:srgbClr val="1F77B4"/>
            </a:solidFill>
            <a:prstDash val="solid"/>
          </a:ln>
        </p:spPr>
      </p:sp>
      <p:sp>
        <p:nvSpPr>
          <p:cNvPr id="11" name="Text 9"/>
          <p:cNvSpPr txBox="1"/>
          <p:nvPr/>
        </p:nvSpPr>
        <p:spPr>
          <a:xfrm>
            <a:off x="6812280" y="150876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Columna</a:t>
            </a:r>
            <a:endParaRPr lang="en-US" sz="1800" dirty="0"/>
          </a:p>
        </p:txBody>
      </p:sp>
      <p:sp>
        <p:nvSpPr>
          <p:cNvPr id="12" name="Text 10"/>
          <p:cNvSpPr txBox="1"/>
          <p:nvPr/>
        </p:nvSpPr>
        <p:spPr>
          <a:xfrm>
            <a:off x="6675120" y="196596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COL_Seccion_bxh  (T)</a:t>
            </a:r>
            <a:endParaRPr lang="en-US" sz="1400" dirty="0"/>
          </a:p>
          <a:p>
            <a:pPr marL="342900" indent="-342900">
              <a:buSzPct val="100000"/>
              <a:buChar char="•"/>
            </a:pPr>
            <a:r>
              <a:rPr lang="en-US" sz="1400" dirty="0">
                <a:solidFill>
                  <a:schemeClr val="tx1"/>
                </a:solidFill>
              </a:rPr>
              <a:t>COL_Altura_Libre  (I)</a:t>
            </a:r>
            <a:endParaRPr lang="en-US" sz="1400" dirty="0"/>
          </a:p>
          <a:p>
            <a:pPr marL="342900" indent="-342900">
              <a:buSzPct val="100000"/>
              <a:buChar char="•"/>
            </a:pPr>
            <a:r>
              <a:rPr lang="en-US" sz="1400" dirty="0">
                <a:solidFill>
                  <a:schemeClr val="tx1"/>
                </a:solidFill>
              </a:rPr>
              <a:t>COL_Refuerzo_Longitudinal  (T)</a:t>
            </a:r>
            <a:endParaRPr lang="en-US" sz="1400" dirty="0"/>
          </a:p>
        </p:txBody>
      </p:sp>
      <p:sp>
        <p:nvSpPr>
          <p:cNvPr id="13" name="particular3"/>
          <p:cNvSpPr/>
          <p:nvPr/>
        </p:nvSpPr>
        <p:spPr>
          <a:xfrm>
            <a:off x="548640" y="3154680"/>
            <a:ext cx="5440680" cy="1600200"/>
          </a:xfrm>
          <a:prstGeom prst="roundRect">
            <a:avLst>
              <a:gd name="adj" fmla="val 6857"/>
            </a:avLst>
          </a:prstGeom>
          <a:solidFill>
            <a:schemeClr val="bg2"/>
          </a:solidFill>
          <a:ln/>
        </p:spPr>
      </p:sp>
      <p:sp>
        <p:nvSpPr>
          <p:cNvPr id="14" name="Shape 12"/>
          <p:cNvSpPr/>
          <p:nvPr/>
        </p:nvSpPr>
        <p:spPr>
          <a:xfrm>
            <a:off x="777240" y="3383280"/>
            <a:ext cx="292608" cy="292608"/>
          </a:xfrm>
          <a:prstGeom prst="ellipse">
            <a:avLst/>
          </a:prstGeom>
          <a:solidFill>
            <a:srgbClr val="2CA02C"/>
          </a:solidFill>
          <a:ln w="12700">
            <a:solidFill>
              <a:srgbClr val="2CA02C"/>
            </a:solidFill>
            <a:prstDash val="solid"/>
          </a:ln>
        </p:spPr>
      </p:sp>
      <p:sp>
        <p:nvSpPr>
          <p:cNvPr id="15" name="Text 13"/>
          <p:cNvSpPr txBox="1"/>
          <p:nvPr/>
        </p:nvSpPr>
        <p:spPr>
          <a:xfrm>
            <a:off x="1188720" y="329184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Viga VC</a:t>
            </a:r>
            <a:endParaRPr lang="en-US" sz="1800" dirty="0"/>
          </a:p>
        </p:txBody>
      </p:sp>
      <p:sp>
        <p:nvSpPr>
          <p:cNvPr id="16" name="Text 14"/>
          <p:cNvSpPr txBox="1"/>
          <p:nvPr/>
        </p:nvSpPr>
        <p:spPr>
          <a:xfrm>
            <a:off x="1051560" y="374904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VCI_Seccion_bxh  (T)</a:t>
            </a:r>
            <a:endParaRPr lang="en-US" sz="1400" dirty="0"/>
          </a:p>
          <a:p>
            <a:pPr marL="342900" indent="-342900">
              <a:buSzPct val="100000"/>
              <a:buChar char="•"/>
            </a:pPr>
            <a:r>
              <a:rPr lang="en-US" sz="1400" dirty="0">
                <a:solidFill>
                  <a:schemeClr val="tx1"/>
                </a:solidFill>
              </a:rPr>
              <a:t>VCI_Eje_Estructural  (I)</a:t>
            </a:r>
            <a:endParaRPr lang="en-US" sz="1400" dirty="0"/>
          </a:p>
          <a:p>
            <a:pPr marL="342900" indent="-342900">
              <a:buSzPct val="100000"/>
              <a:buChar char="•"/>
            </a:pPr>
            <a:r>
              <a:rPr lang="en-US" sz="1400" dirty="0">
                <a:solidFill>
                  <a:schemeClr val="tx1"/>
                </a:solidFill>
              </a:rPr>
              <a:t>VCI_Refuerzo  (T)</a:t>
            </a:r>
            <a:endParaRPr lang="en-US" sz="1400" dirty="0"/>
          </a:p>
        </p:txBody>
      </p:sp>
      <p:sp>
        <p:nvSpPr>
          <p:cNvPr id="17" name="particular4"/>
          <p:cNvSpPr/>
          <p:nvPr/>
        </p:nvSpPr>
        <p:spPr>
          <a:xfrm>
            <a:off x="6172200" y="3154680"/>
            <a:ext cx="5440680" cy="1600200"/>
          </a:xfrm>
          <a:prstGeom prst="roundRect">
            <a:avLst>
              <a:gd name="adj" fmla="val 6857"/>
            </a:avLst>
          </a:prstGeom>
          <a:solidFill>
            <a:schemeClr val="bg2"/>
          </a:solidFill>
          <a:ln/>
        </p:spPr>
      </p:sp>
      <p:sp>
        <p:nvSpPr>
          <p:cNvPr id="18" name="Shape 16"/>
          <p:cNvSpPr/>
          <p:nvPr/>
        </p:nvSpPr>
        <p:spPr>
          <a:xfrm>
            <a:off x="6400800" y="3383280"/>
            <a:ext cx="292608" cy="292608"/>
          </a:xfrm>
          <a:prstGeom prst="ellipse">
            <a:avLst/>
          </a:prstGeom>
          <a:solidFill>
            <a:srgbClr val="D62728"/>
          </a:solidFill>
          <a:ln w="12700">
            <a:solidFill>
              <a:srgbClr val="D62728"/>
            </a:solidFill>
            <a:prstDash val="solid"/>
          </a:ln>
        </p:spPr>
      </p:sp>
      <p:sp>
        <p:nvSpPr>
          <p:cNvPr id="19" name="Text 17"/>
          <p:cNvSpPr txBox="1"/>
          <p:nvPr/>
        </p:nvSpPr>
        <p:spPr>
          <a:xfrm>
            <a:off x="6812280" y="329184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Correa PHR</a:t>
            </a:r>
            <a:endParaRPr lang="en-US" sz="1800" dirty="0"/>
          </a:p>
        </p:txBody>
      </p:sp>
      <p:sp>
        <p:nvSpPr>
          <p:cNvPr id="20" name="Text 18"/>
          <p:cNvSpPr txBox="1"/>
          <p:nvPr/>
        </p:nvSpPr>
        <p:spPr>
          <a:xfrm>
            <a:off x="6675120" y="374904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COR_Designacion_Perfil  (T)</a:t>
            </a:r>
            <a:endParaRPr lang="en-US" sz="1400" dirty="0"/>
          </a:p>
          <a:p>
            <a:pPr marL="342900" indent="-342900">
              <a:buSzPct val="100000"/>
              <a:buChar char="•"/>
            </a:pPr>
            <a:r>
              <a:rPr lang="en-US" sz="1400" dirty="0">
                <a:solidFill>
                  <a:schemeClr val="tx1"/>
                </a:solidFill>
              </a:rPr>
              <a:t>COR_Espesor_Lamina  (T)</a:t>
            </a:r>
            <a:endParaRPr lang="en-US" sz="1400" dirty="0"/>
          </a:p>
          <a:p>
            <a:pPr marL="342900" indent="-342900">
              <a:buSzPct val="100000"/>
              <a:buChar char="•"/>
            </a:pPr>
            <a:r>
              <a:rPr lang="en-US" sz="1400" dirty="0">
                <a:solidFill>
                  <a:schemeClr val="tx1"/>
                </a:solidFill>
              </a:rPr>
              <a:t>COR_Separacion  (I)</a:t>
            </a:r>
            <a:endParaRPr lang="en-US" sz="1400" dirty="0"/>
          </a:p>
        </p:txBody>
      </p:sp>
      <p:sp>
        <p:nvSpPr>
          <p:cNvPr id="21" name="Text 19"/>
          <p:cNvSpPr txBox="1"/>
          <p:nvPr/>
        </p:nvSpPr>
        <p:spPr>
          <a:xfrm>
            <a:off x="548640" y="4983480"/>
            <a:ext cx="11064240" cy="1097280"/>
          </a:xfrm>
          <a:prstGeom prst="rect">
            <a:avLst/>
          </a:prstGeom>
          <a:noFill/>
          <a:ln/>
        </p:spPr>
        <p:txBody>
          <a:bodyPr wrap="square" rtlCol="0" anchor="t"/>
          <a:lstStyle/>
          <a:p>
            <a:pPr indent="0" marL="0">
              <a:buNone/>
            </a:pPr>
            <a:r>
              <a:rPr lang="en-US" sz="1400" b="1" dirty="0">
                <a:solidFill>
                  <a:schemeClr val="tx1"/>
                </a:solidFill>
              </a:rPr>
              <a:t>¿Por qué dentro de la familia? </a:t>
            </a:r>
            <a:pPr indent="0" marL="0">
              <a:buNone/>
            </a:pPr>
            <a:r>
              <a:rPr lang="en-US" sz="1400" dirty="0">
                <a:solidFill>
                  <a:schemeClr val="tx1"/>
                </a:solidFill>
              </a:rPr>
              <a:t>La viga VC y la correa están en la misma categoría (Armazón estructural). Si sus particulares fueran de proyecto, cada una mostraría los de la otra. Como compartidos dentro de la familia solo aparecen donde corresponden y sí entran al Schedule.</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La relación paramétrica de la zapata</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2:00 – 3:00</a:t>
            </a:r>
            <a:endParaRPr lang="en-US" sz="1300" dirty="0"/>
          </a:p>
        </p:txBody>
      </p:sp>
      <p:sp>
        <p:nvSpPr>
          <p:cNvPr id="5" name="formula"/>
          <p:cNvSpPr/>
          <p:nvPr/>
        </p:nvSpPr>
        <p:spPr>
          <a:xfrm>
            <a:off x="548640" y="1417320"/>
            <a:ext cx="6035040" cy="1188720"/>
          </a:xfrm>
          <a:prstGeom prst="roundRect">
            <a:avLst>
              <a:gd name="adj" fmla="val 9231"/>
            </a:avLst>
          </a:prstGeom>
          <a:solidFill>
            <a:schemeClr val="tx1"/>
          </a:solidFill>
          <a:ln/>
        </p:spPr>
      </p:sp>
      <p:sp>
        <p:nvSpPr>
          <p:cNvPr id="6" name="Text 4"/>
          <p:cNvSpPr txBox="1"/>
          <p:nvPr/>
        </p:nvSpPr>
        <p:spPr>
          <a:xfrm>
            <a:off x="731520" y="1417320"/>
            <a:ext cx="5669280" cy="1188720"/>
          </a:xfrm>
          <a:prstGeom prst="rect">
            <a:avLst/>
          </a:prstGeom>
          <a:noFill/>
          <a:ln/>
        </p:spPr>
        <p:txBody>
          <a:bodyPr wrap="square" rtlCol="0" anchor="ctr"/>
          <a:lstStyle/>
          <a:p>
            <a:pPr indent="0" marL="0">
              <a:buNone/>
            </a:pPr>
            <a:r>
              <a:rPr lang="en-US" sz="1800" b="1" dirty="0">
                <a:solidFill>
                  <a:schemeClr val="bg1"/>
                </a:solidFill>
              </a:rPr>
              <a:t>ZAP_Volumen_Concreto = ZAP_Lado_B × ZAP_Lado_B × ZAP_Espesor_h</a:t>
            </a:r>
            <a:endParaRPr lang="en-US" sz="1800" dirty="0"/>
          </a:p>
        </p:txBody>
      </p:sp>
      <p:sp>
        <p:nvSpPr>
          <p:cNvPr id="7" name="Text 5"/>
          <p:cNvSpPr txBox="1"/>
          <p:nvPr/>
        </p:nvSpPr>
        <p:spPr>
          <a:xfrm>
            <a:off x="548640" y="2743200"/>
            <a:ext cx="6035040" cy="822960"/>
          </a:xfrm>
          <a:prstGeom prst="rect">
            <a:avLst/>
          </a:prstGeom>
          <a:noFill/>
          <a:ln/>
        </p:spPr>
        <p:txBody>
          <a:bodyPr wrap="square" rtlCol="0" anchor="ctr"/>
          <a:lstStyle/>
          <a:p>
            <a:pPr indent="0" marL="0">
              <a:buNone/>
            </a:pPr>
            <a:r>
              <a:rPr lang="en-US" sz="1400" dirty="0">
                <a:solidFill>
                  <a:schemeClr val="tx2"/>
                </a:solidFill>
              </a:rPr>
              <a:t>Además: Anchura = Longitud = ZAP_Lado_B y Espesor = ZAP_Espesor_h. Al cambiar el lado, cambian la geometría y el volumen.</a:t>
            </a:r>
            <a:endParaRPr lang="en-US" sz="1400" dirty="0"/>
          </a:p>
        </p:txBody>
      </p:sp>
      <p:sp>
        <p:nvSpPr>
          <p:cNvPr id="8" name="Text 6"/>
          <p:cNvSpPr txBox="1"/>
          <p:nvPr/>
        </p:nvSpPr>
        <p:spPr>
          <a:xfrm>
            <a:off x="548640" y="3749040"/>
            <a:ext cx="2834640" cy="914400"/>
          </a:xfrm>
          <a:prstGeom prst="rect">
            <a:avLst/>
          </a:prstGeom>
          <a:noFill/>
          <a:ln/>
        </p:spPr>
        <p:txBody>
          <a:bodyPr wrap="square" lIns="0" tIns="0" rIns="0" bIns="0" rtlCol="0" anchor="ctr"/>
          <a:lstStyle/>
          <a:p>
            <a:pPr indent="0" marL="0">
              <a:buNone/>
            </a:pPr>
            <a:r>
              <a:rPr lang="en-US" sz="4400" b="1" dirty="0">
                <a:solidFill>
                  <a:schemeClr val="tx1"/>
                </a:solidFill>
              </a:rPr>
              <a:t>0,592 m³</a:t>
            </a:r>
            <a:endParaRPr lang="en-US" sz="4400" dirty="0"/>
          </a:p>
        </p:txBody>
      </p:sp>
      <p:sp>
        <p:nvSpPr>
          <p:cNvPr id="9" name="Text 7"/>
          <p:cNvSpPr txBox="1"/>
          <p:nvPr/>
        </p:nvSpPr>
        <p:spPr>
          <a:xfrm>
            <a:off x="548640" y="4663440"/>
            <a:ext cx="2834640" cy="365760"/>
          </a:xfrm>
          <a:prstGeom prst="rect">
            <a:avLst/>
          </a:prstGeom>
          <a:noFill/>
          <a:ln/>
        </p:spPr>
        <p:txBody>
          <a:bodyPr wrap="square" lIns="0" tIns="0" rIns="0" bIns="0" rtlCol="0" anchor="ctr"/>
          <a:lstStyle/>
          <a:p>
            <a:pPr indent="0" marL="0">
              <a:buNone/>
            </a:pPr>
            <a:r>
              <a:rPr lang="en-US" sz="1300" dirty="0">
                <a:solidFill>
                  <a:schemeClr val="tx2"/>
                </a:solidFill>
              </a:rPr>
              <a:t>Z-T1 con B = 1,30 m (antes)</a:t>
            </a:r>
            <a:endParaRPr lang="en-US" sz="1300" dirty="0"/>
          </a:p>
        </p:txBody>
      </p:sp>
      <p:sp>
        <p:nvSpPr>
          <p:cNvPr id="10" name="Text 8"/>
          <p:cNvSpPr txBox="1"/>
          <p:nvPr/>
        </p:nvSpPr>
        <p:spPr>
          <a:xfrm>
            <a:off x="3657600" y="3749040"/>
            <a:ext cx="2834640" cy="914400"/>
          </a:xfrm>
          <a:prstGeom prst="rect">
            <a:avLst/>
          </a:prstGeom>
          <a:noFill/>
          <a:ln/>
        </p:spPr>
        <p:txBody>
          <a:bodyPr wrap="square" lIns="0" tIns="0" rIns="0" bIns="0" rtlCol="0" anchor="ctr"/>
          <a:lstStyle/>
          <a:p>
            <a:pPr indent="0" marL="0">
              <a:buNone/>
            </a:pPr>
            <a:r>
              <a:rPr lang="en-US" sz="4400" b="1" dirty="0">
                <a:solidFill>
                  <a:schemeClr val="accent1"/>
                </a:solidFill>
              </a:rPr>
              <a:t>0,788 m³</a:t>
            </a:r>
            <a:endParaRPr lang="en-US" sz="4400" dirty="0"/>
          </a:p>
        </p:txBody>
      </p:sp>
      <p:sp>
        <p:nvSpPr>
          <p:cNvPr id="11" name="Text 9"/>
          <p:cNvSpPr txBox="1"/>
          <p:nvPr/>
        </p:nvSpPr>
        <p:spPr>
          <a:xfrm>
            <a:off x="3657600" y="4663440"/>
            <a:ext cx="2834640" cy="365760"/>
          </a:xfrm>
          <a:prstGeom prst="rect">
            <a:avLst/>
          </a:prstGeom>
          <a:noFill/>
          <a:ln/>
        </p:spPr>
        <p:txBody>
          <a:bodyPr wrap="square" lIns="0" tIns="0" rIns="0" bIns="0" rtlCol="0" anchor="ctr"/>
          <a:lstStyle/>
          <a:p>
            <a:pPr indent="0" marL="0">
              <a:buNone/>
            </a:pPr>
            <a:r>
              <a:rPr lang="en-US" sz="1300" dirty="0">
                <a:solidFill>
                  <a:schemeClr val="tx2"/>
                </a:solidFill>
              </a:rPr>
              <a:t>Z-T1 con B = 1,50 m (después)</a:t>
            </a:r>
            <a:endParaRPr lang="en-US" sz="1300" dirty="0"/>
          </a:p>
        </p:txBody>
      </p:sp>
      <p:sp>
        <p:nvSpPr>
          <p:cNvPr id="12" name="Text 10"/>
          <p:cNvSpPr txBox="1"/>
          <p:nvPr/>
        </p:nvSpPr>
        <p:spPr>
          <a:xfrm>
            <a:off x="2971800" y="3886200"/>
            <a:ext cx="548640" cy="640080"/>
          </a:xfrm>
          <a:prstGeom prst="rect">
            <a:avLst/>
          </a:prstGeom>
          <a:noFill/>
          <a:ln/>
        </p:spPr>
        <p:txBody>
          <a:bodyPr wrap="square" lIns="0" tIns="0" rIns="0" bIns="0" rtlCol="0" anchor="ctr"/>
          <a:lstStyle/>
          <a:p>
            <a:pPr indent="0" marL="0">
              <a:buNone/>
            </a:pPr>
            <a:r>
              <a:rPr lang="en-US" sz="3000" dirty="0">
                <a:solidFill>
                  <a:schemeClr val="accent1"/>
                </a:solidFill>
              </a:rPr>
              <a:t>→</a:t>
            </a:r>
            <a:endParaRPr lang="en-US" sz="3000" dirty="0"/>
          </a:p>
        </p:txBody>
      </p:sp>
      <p:sp>
        <p:nvSpPr>
          <p:cNvPr id="13" name="imagen"/>
          <p:cNvSpPr/>
          <p:nvPr/>
        </p:nvSpPr>
        <p:spPr>
          <a:xfrm>
            <a:off x="6949440" y="1417320"/>
            <a:ext cx="4663440" cy="4754880"/>
          </a:xfrm>
          <a:prstGeom prst="roundRect">
            <a:avLst>
              <a:gd name="adj" fmla="val 2941"/>
            </a:avLst>
          </a:prstGeom>
          <a:solidFill>
            <a:schemeClr val="bg2"/>
          </a:solidFill>
          <a:ln w="15875">
            <a:solidFill>
              <a:schemeClr val="tx2"/>
            </a:solidFill>
            <a:prstDash val="dash"/>
          </a:ln>
        </p:spPr>
      </p:sp>
      <p:sp>
        <p:nvSpPr>
          <p:cNvPr id="14" name="Text 12"/>
          <p:cNvSpPr txBox="1"/>
          <p:nvPr/>
        </p:nvSpPr>
        <p:spPr>
          <a:xfrm>
            <a:off x="7132320" y="1417320"/>
            <a:ext cx="4297680" cy="475488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Editor de familia P89_ZAP_Zapata_Aislada → Tipos de familia (se ve la fórmula)</a:t>
            </a:r>
            <a:endParaRPr lang="en-US" sz="13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Implementación en Revit</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3:00 – 4:00</a:t>
            </a:r>
            <a:endParaRPr lang="en-US" sz="1300" dirty="0"/>
          </a:p>
        </p:txBody>
      </p:sp>
      <p:sp>
        <p:nvSpPr>
          <p:cNvPr id="5" name="imagen"/>
          <p:cNvSpPr/>
          <p:nvPr/>
        </p:nvSpPr>
        <p:spPr>
          <a:xfrm>
            <a:off x="548640" y="1417320"/>
            <a:ext cx="3566160" cy="4023360"/>
          </a:xfrm>
          <a:prstGeom prst="roundRect">
            <a:avLst>
              <a:gd name="adj" fmla="val 3846"/>
            </a:avLst>
          </a:prstGeom>
          <a:solidFill>
            <a:schemeClr val="bg2"/>
          </a:solidFill>
          <a:ln w="15875">
            <a:solidFill>
              <a:schemeClr val="tx2"/>
            </a:solidFill>
            <a:prstDash val="dash"/>
          </a:ln>
        </p:spPr>
      </p:sp>
      <p:sp>
        <p:nvSpPr>
          <p:cNvPr id="6" name="Text 4"/>
          <p:cNvSpPr txBox="1"/>
          <p:nvPr/>
        </p:nvSpPr>
        <p:spPr>
          <a:xfrm>
            <a:off x="731520" y="1417320"/>
            <a:ext cx="3200400" cy="402336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Gestionar → Parámetros de proyecto (los 5 PAC_)</a:t>
            </a:r>
            <a:endParaRPr lang="en-US" sz="1300" dirty="0"/>
          </a:p>
        </p:txBody>
      </p:sp>
      <p:sp>
        <p:nvSpPr>
          <p:cNvPr id="7" name="imagen"/>
          <p:cNvSpPr/>
          <p:nvPr/>
        </p:nvSpPr>
        <p:spPr>
          <a:xfrm>
            <a:off x="4315968" y="1417320"/>
            <a:ext cx="3566160" cy="4023360"/>
          </a:xfrm>
          <a:prstGeom prst="roundRect">
            <a:avLst>
              <a:gd name="adj" fmla="val 3846"/>
            </a:avLst>
          </a:prstGeom>
          <a:solidFill>
            <a:schemeClr val="bg2"/>
          </a:solidFill>
          <a:ln w="15875">
            <a:solidFill>
              <a:schemeClr val="tx2"/>
            </a:solidFill>
            <a:prstDash val="dash"/>
          </a:ln>
        </p:spPr>
      </p:sp>
      <p:sp>
        <p:nvSpPr>
          <p:cNvPr id="8" name="Text 6"/>
          <p:cNvSpPr txBox="1"/>
          <p:nvPr/>
        </p:nvSpPr>
        <p:spPr>
          <a:xfrm>
            <a:off x="4498848" y="1417320"/>
            <a:ext cx="3200400" cy="402336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Propiedades de una columna (COL_Altura_Libre de instancia)</a:t>
            </a:r>
            <a:endParaRPr lang="en-US" sz="1300" dirty="0"/>
          </a:p>
        </p:txBody>
      </p:sp>
      <p:sp>
        <p:nvSpPr>
          <p:cNvPr id="9" name="imagen"/>
          <p:cNvSpPr/>
          <p:nvPr/>
        </p:nvSpPr>
        <p:spPr>
          <a:xfrm>
            <a:off x="8083296" y="1417320"/>
            <a:ext cx="3566160" cy="4023360"/>
          </a:xfrm>
          <a:prstGeom prst="roundRect">
            <a:avLst>
              <a:gd name="adj" fmla="val 3846"/>
            </a:avLst>
          </a:prstGeom>
          <a:solidFill>
            <a:schemeClr val="bg2"/>
          </a:solidFill>
          <a:ln w="15875">
            <a:solidFill>
              <a:schemeClr val="tx2"/>
            </a:solidFill>
            <a:prstDash val="dash"/>
          </a:ln>
        </p:spPr>
      </p:sp>
      <p:sp>
        <p:nvSpPr>
          <p:cNvPr id="10" name="Text 8"/>
          <p:cNvSpPr txBox="1"/>
          <p:nvPr/>
        </p:nvSpPr>
        <p:spPr>
          <a:xfrm>
            <a:off x="8266176" y="1417320"/>
            <a:ext cx="3200400" cy="402336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Propiedades de una correa o de la losa</a:t>
            </a:r>
            <a:endParaRPr lang="en-US" sz="1300" dirty="0"/>
          </a:p>
        </p:txBody>
      </p:sp>
      <p:sp>
        <p:nvSpPr>
          <p:cNvPr id="11" name="Text 9"/>
          <p:cNvSpPr txBox="1"/>
          <p:nvPr/>
        </p:nvSpPr>
        <p:spPr>
          <a:xfrm>
            <a:off x="548640" y="5577840"/>
            <a:ext cx="3566160" cy="548640"/>
          </a:xfrm>
          <a:prstGeom prst="rect">
            <a:avLst/>
          </a:prstGeom>
          <a:noFill/>
          <a:ln/>
        </p:spPr>
        <p:txBody>
          <a:bodyPr wrap="square" rtlCol="0" anchor="ctr"/>
          <a:lstStyle/>
          <a:p>
            <a:pPr algn="ctr" indent="0" marL="0">
              <a:buNone/>
            </a:pPr>
            <a:r>
              <a:rPr lang="en-US" sz="1400" dirty="0">
                <a:solidFill>
                  <a:schemeClr val="tx1"/>
                </a:solidFill>
              </a:rPr>
              <a:t>Parámetros comunes vinculados al proyecto</a:t>
            </a:r>
            <a:endParaRPr lang="en-US" sz="1400" dirty="0"/>
          </a:p>
        </p:txBody>
      </p:sp>
      <p:sp>
        <p:nvSpPr>
          <p:cNvPr id="12" name="Text 10"/>
          <p:cNvSpPr txBox="1"/>
          <p:nvPr/>
        </p:nvSpPr>
        <p:spPr>
          <a:xfrm>
            <a:off x="4315968" y="5577840"/>
            <a:ext cx="3566160" cy="548640"/>
          </a:xfrm>
          <a:prstGeom prst="rect">
            <a:avLst/>
          </a:prstGeom>
          <a:noFill/>
          <a:ln/>
        </p:spPr>
        <p:txBody>
          <a:bodyPr wrap="square" rtlCol="0" anchor="ctr"/>
          <a:lstStyle/>
          <a:p>
            <a:pPr algn="ctr" indent="0" marL="0">
              <a:buNone/>
            </a:pPr>
            <a:r>
              <a:rPr lang="en-US" sz="1400" dirty="0">
                <a:solidFill>
                  <a:schemeClr val="tx1"/>
                </a:solidFill>
              </a:rPr>
              <a:t>Instancia: 2,75 m o 5,75 m según el eje</a:t>
            </a:r>
            <a:endParaRPr lang="en-US" sz="1400" dirty="0"/>
          </a:p>
        </p:txBody>
      </p:sp>
      <p:sp>
        <p:nvSpPr>
          <p:cNvPr id="13" name="Text 11"/>
          <p:cNvSpPr txBox="1"/>
          <p:nvPr/>
        </p:nvSpPr>
        <p:spPr>
          <a:xfrm>
            <a:off x="8083296" y="5577840"/>
            <a:ext cx="3566160" cy="548640"/>
          </a:xfrm>
          <a:prstGeom prst="rect">
            <a:avLst/>
          </a:prstGeom>
          <a:noFill/>
          <a:ln/>
        </p:spPr>
        <p:txBody>
          <a:bodyPr wrap="square" rtlCol="0" anchor="ctr"/>
          <a:lstStyle/>
          <a:p>
            <a:pPr algn="ctr" indent="0" marL="0">
              <a:buNone/>
            </a:pPr>
            <a:r>
              <a:rPr lang="en-US" sz="1400" dirty="0">
                <a:solidFill>
                  <a:schemeClr val="tx1"/>
                </a:solidFill>
              </a:rPr>
              <a:t>Material de color por objeto</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Validación con un solo Schedule</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4:00 – 4:40</a:t>
            </a:r>
            <a:endParaRPr lang="en-US" sz="1300" dirty="0"/>
          </a:p>
        </p:txBody>
      </p:sp>
      <p:sp>
        <p:nvSpPr>
          <p:cNvPr id="5" name="imagen"/>
          <p:cNvSpPr/>
          <p:nvPr/>
        </p:nvSpPr>
        <p:spPr>
          <a:xfrm>
            <a:off x="548640" y="1417320"/>
            <a:ext cx="6766560" cy="4754880"/>
          </a:xfrm>
          <a:prstGeom prst="roundRect">
            <a:avLst>
              <a:gd name="adj" fmla="val 2885"/>
            </a:avLst>
          </a:prstGeom>
          <a:solidFill>
            <a:schemeClr val="bg2"/>
          </a:solidFill>
          <a:ln w="15875">
            <a:solidFill>
              <a:schemeClr val="tx2"/>
            </a:solidFill>
            <a:prstDash val="dash"/>
          </a:ln>
        </p:spPr>
      </p:sp>
      <p:sp>
        <p:nvSpPr>
          <p:cNvPr id="6" name="Text 4"/>
          <p:cNvSpPr txBox="1"/>
          <p:nvPr/>
        </p:nvSpPr>
        <p:spPr>
          <a:xfrm>
            <a:off x="731520" y="1417320"/>
            <a:ext cx="6400800" cy="4754880"/>
          </a:xfrm>
          <a:prstGeom prst="rect">
            <a:avLst/>
          </a:prstGeom>
          <a:noFill/>
          <a:ln/>
        </p:spPr>
        <p:txBody>
          <a:bodyPr wrap="square" rtlCol="0" anchor="ctr"/>
          <a:lstStyle/>
          <a:p>
            <a:pPr algn="ctr" indent="0" marL="0">
              <a:buNone/>
            </a:pPr>
            <a:r>
              <a:rPr lang="en-US" sz="1300" b="1" dirty="0">
                <a:solidFill>
                  <a:schemeClr val="tx2"/>
                </a:solidFill>
              </a:rPr>
              <a:t>INSERTE AQUÍ SU IMAGEN</a:t>
            </a:r>
            <a:endParaRPr lang="en-US" sz="1300" dirty="0"/>
          </a:p>
          <a:p>
            <a:pPr algn="ctr" indent="0" marL="0">
              <a:buNone/>
            </a:pPr>
            <a:r>
              <a:rPr lang="en-US" sz="1300" dirty="0">
                <a:solidFill>
                  <a:schemeClr val="tx2"/>
                </a:solidFill>
              </a:rPr>
              <a:t>Schedule P89_ACT03_VALIDACION</a:t>
            </a:r>
            <a:endParaRPr lang="en-US" sz="1300" dirty="0"/>
          </a:p>
        </p:txBody>
      </p:sp>
      <p:sp>
        <p:nvSpPr>
          <p:cNvPr id="7" name="Text 5"/>
          <p:cNvSpPr txBox="1"/>
          <p:nvPr/>
        </p:nvSpPr>
        <p:spPr>
          <a:xfrm>
            <a:off x="7680960" y="1417320"/>
            <a:ext cx="3931920" cy="822960"/>
          </a:xfrm>
          <a:prstGeom prst="rect">
            <a:avLst/>
          </a:prstGeom>
          <a:noFill/>
          <a:ln/>
        </p:spPr>
        <p:txBody>
          <a:bodyPr wrap="square" lIns="0" tIns="0" rIns="0" bIns="0" rtlCol="0" anchor="ctr"/>
          <a:lstStyle/>
          <a:p>
            <a:pPr indent="0" marL="0">
              <a:buNone/>
            </a:pPr>
            <a:r>
              <a:rPr lang="en-US" sz="4400" b="1" dirty="0">
                <a:solidFill>
                  <a:schemeClr val="tx1"/>
                </a:solidFill>
              </a:rPr>
              <a:t>19</a:t>
            </a:r>
            <a:endParaRPr lang="en-US" sz="4400" dirty="0"/>
          </a:p>
        </p:txBody>
      </p:sp>
      <p:sp>
        <p:nvSpPr>
          <p:cNvPr id="8" name="Text 6"/>
          <p:cNvSpPr txBox="1"/>
          <p:nvPr/>
        </p:nvSpPr>
        <p:spPr>
          <a:xfrm>
            <a:off x="7680960" y="2240280"/>
            <a:ext cx="3931920" cy="548640"/>
          </a:xfrm>
          <a:prstGeom prst="rect">
            <a:avLst/>
          </a:prstGeom>
          <a:noFill/>
          <a:ln/>
        </p:spPr>
        <p:txBody>
          <a:bodyPr wrap="square" lIns="0" tIns="0" rIns="0" bIns="0" rtlCol="0" anchor="ctr"/>
          <a:lstStyle/>
          <a:p>
            <a:pPr indent="0" marL="0">
              <a:buNone/>
            </a:pPr>
            <a:r>
              <a:rPr lang="en-US" sz="1400" dirty="0">
                <a:solidFill>
                  <a:schemeClr val="tx2"/>
                </a:solidFill>
              </a:rPr>
              <a:t>zapatas y 19 columnas</a:t>
            </a:r>
            <a:endParaRPr lang="en-US" sz="1400" dirty="0"/>
          </a:p>
        </p:txBody>
      </p:sp>
      <p:sp>
        <p:nvSpPr>
          <p:cNvPr id="9" name="Text 7"/>
          <p:cNvSpPr txBox="1"/>
          <p:nvPr/>
        </p:nvSpPr>
        <p:spPr>
          <a:xfrm>
            <a:off x="7680960" y="3017520"/>
            <a:ext cx="3931920" cy="822960"/>
          </a:xfrm>
          <a:prstGeom prst="rect">
            <a:avLst/>
          </a:prstGeom>
          <a:noFill/>
          <a:ln/>
        </p:spPr>
        <p:txBody>
          <a:bodyPr wrap="square" lIns="0" tIns="0" rIns="0" bIns="0" rtlCol="0" anchor="ctr"/>
          <a:lstStyle/>
          <a:p>
            <a:pPr indent="0" marL="0">
              <a:buNone/>
            </a:pPr>
            <a:r>
              <a:rPr lang="en-US" sz="4400" b="1" dirty="0">
                <a:solidFill>
                  <a:schemeClr val="accent1"/>
                </a:solidFill>
              </a:rPr>
              <a:t>13,72 m³</a:t>
            </a:r>
            <a:endParaRPr lang="en-US" sz="4400" dirty="0"/>
          </a:p>
        </p:txBody>
      </p:sp>
      <p:sp>
        <p:nvSpPr>
          <p:cNvPr id="10" name="Text 8"/>
          <p:cNvSpPr txBox="1"/>
          <p:nvPr/>
        </p:nvSpPr>
        <p:spPr>
          <a:xfrm>
            <a:off x="7680960" y="3840480"/>
            <a:ext cx="3931920" cy="548640"/>
          </a:xfrm>
          <a:prstGeom prst="rect">
            <a:avLst/>
          </a:prstGeom>
          <a:noFill/>
          <a:ln/>
        </p:spPr>
        <p:txBody>
          <a:bodyPr wrap="square" lIns="0" tIns="0" rIns="0" bIns="0" rtlCol="0" anchor="ctr"/>
          <a:lstStyle/>
          <a:p>
            <a:pPr indent="0" marL="0">
              <a:buNone/>
            </a:pPr>
            <a:r>
              <a:rPr lang="en-US" sz="1400" dirty="0">
                <a:solidFill>
                  <a:schemeClr val="tx2"/>
                </a:solidFill>
              </a:rPr>
              <a:t>concreto en zapatas (= hoja VALORES del Excel)</a:t>
            </a:r>
            <a:endParaRPr lang="en-US" sz="1400" dirty="0"/>
          </a:p>
        </p:txBody>
      </p:sp>
      <p:sp>
        <p:nvSpPr>
          <p:cNvPr id="11" name="Text 9"/>
          <p:cNvSpPr txBox="1"/>
          <p:nvPr/>
        </p:nvSpPr>
        <p:spPr>
          <a:xfrm>
            <a:off x="7680960" y="4617720"/>
            <a:ext cx="3931920" cy="822960"/>
          </a:xfrm>
          <a:prstGeom prst="rect">
            <a:avLst/>
          </a:prstGeom>
          <a:noFill/>
          <a:ln/>
        </p:spPr>
        <p:txBody>
          <a:bodyPr wrap="square" lIns="0" tIns="0" rIns="0" bIns="0" rtlCol="0" anchor="ctr"/>
          <a:lstStyle/>
          <a:p>
            <a:pPr indent="0" marL="0">
              <a:buNone/>
            </a:pPr>
            <a:r>
              <a:rPr lang="en-US" sz="4400" b="1" dirty="0">
                <a:solidFill>
                  <a:schemeClr val="tx1"/>
                </a:solidFill>
              </a:rPr>
              <a:t>5 / 5</a:t>
            </a:r>
            <a:endParaRPr lang="en-US" sz="4400" dirty="0"/>
          </a:p>
        </p:txBody>
      </p:sp>
      <p:sp>
        <p:nvSpPr>
          <p:cNvPr id="12" name="Text 10"/>
          <p:cNvSpPr txBox="1"/>
          <p:nvPr/>
        </p:nvSpPr>
        <p:spPr>
          <a:xfrm>
            <a:off x="7680960" y="5440680"/>
            <a:ext cx="3931920" cy="548640"/>
          </a:xfrm>
          <a:prstGeom prst="rect">
            <a:avLst/>
          </a:prstGeom>
          <a:noFill/>
          <a:ln/>
        </p:spPr>
        <p:txBody>
          <a:bodyPr wrap="square" lIns="0" tIns="0" rIns="0" bIns="0" rtlCol="0" anchor="ctr"/>
          <a:lstStyle/>
          <a:p>
            <a:pPr indent="0" marL="0">
              <a:buNone/>
            </a:pPr>
            <a:r>
              <a:rPr lang="en-US" sz="1400" dirty="0">
                <a:solidFill>
                  <a:schemeClr val="tx2"/>
                </a:solidFill>
              </a:rPr>
              <a:t>comunes llenos en todos los elementos</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nchor="b"/>
          <a:lstStyle/>
          <a:p>
            <a:pPr algn="l" indent="0" marL="0">
              <a:buNone/>
            </a:pPr>
            <a:r>
              <a:rPr lang="en-US" sz="4000" b="1" dirty="0">
                <a:solidFill>
                  <a:schemeClr val="bg1"/>
                </a:solidFill>
              </a:rPr>
              <a:t>Conclusiones</a:t>
            </a: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nchor="t"/>
          <a:lstStyle/>
          <a:p>
            <a:pPr marL="342900" indent="-342900">
              <a:spcAft>
                <a:spcPts val="1000"/>
              </a:spcAft>
              <a:buSzPct val="100000"/>
              <a:buChar char="•"/>
            </a:pPr>
            <a:r>
              <a:rPr lang="en-US" sz="1600" dirty="0">
                <a:solidFill>
                  <a:schemeClr val="bg2"/>
                </a:solidFill>
              </a:rPr>
              <a:t>Una matriz, un archivo de parámetros compartidos y un Schedule: la información es consistente entre los objetos.</a:t>
            </a:r>
            <a:endParaRPr lang="en-US" sz="1600" dirty="0"/>
          </a:p>
          <a:p>
            <a:pPr marL="342900" indent="-342900">
              <a:spcAft>
                <a:spcPts val="1000"/>
              </a:spcAft>
              <a:buSzPct val="100000"/>
              <a:buChar char="•"/>
            </a:pPr>
            <a:r>
              <a:rPr lang="en-US" sz="1600" dirty="0">
                <a:solidFill>
                  <a:schemeClr val="bg2"/>
                </a:solidFill>
              </a:rPr>
              <a:t>Tipo e instancia bien separados evitan repetir datos y tipos innecesarios.</a:t>
            </a:r>
            <a:endParaRPr lang="en-US" sz="1600" dirty="0"/>
          </a:p>
          <a:p>
            <a:pPr marL="342900" indent="-342900">
              <a:spcAft>
                <a:spcPts val="1000"/>
              </a:spcAft>
              <a:buSzPct val="100000"/>
              <a:buChar char="•"/>
            </a:pPr>
            <a:r>
              <a:rPr lang="en-US" sz="1600" dirty="0">
                <a:solidFill>
                  <a:schemeClr val="bg2"/>
                </a:solidFill>
              </a:rPr>
              <a:t>La fórmula del volumen muestra el comportamiento paramétrico real del objeto.</a:t>
            </a:r>
            <a:endParaRPr lang="en-US" sz="1600" dirty="0"/>
          </a:p>
        </p:txBody>
      </p:sp>
      <p:sp>
        <p:nvSpPr>
          <p:cNvPr id="4" name="imagen"/>
          <p:cNvSpPr/>
          <p:nvPr/>
        </p:nvSpPr>
        <p:spPr>
          <a:xfrm>
            <a:off x="7132320" y="822960"/>
            <a:ext cx="4480560" cy="5120640"/>
          </a:xfrm>
          <a:prstGeom prst="roundRect">
            <a:avLst>
              <a:gd name="adj" fmla="val 3061"/>
            </a:avLst>
          </a:prstGeom>
          <a:solidFill>
            <a:schemeClr val="tx2"/>
          </a:solidFill>
          <a:ln w="15875">
            <a:solidFill>
              <a:schemeClr val="bg2"/>
            </a:solidFill>
            <a:prstDash val="dash"/>
          </a:ln>
        </p:spPr>
      </p:sp>
      <p:sp>
        <p:nvSpPr>
          <p:cNvPr id="5" name="Text 3"/>
          <p:cNvSpPr txBox="1"/>
          <p:nvPr/>
        </p:nvSpPr>
        <p:spPr>
          <a:xfrm>
            <a:off x="7315200" y="822960"/>
            <a:ext cx="4114800" cy="5120640"/>
          </a:xfrm>
          <a:prstGeom prst="rect">
            <a:avLst/>
          </a:prstGeom>
          <a:noFill/>
          <a:ln/>
        </p:spPr>
        <p:txBody>
          <a:bodyPr wrap="square" rtlCol="0" anchor="ctr"/>
          <a:lstStyle/>
          <a:p>
            <a:pPr algn="ctr" indent="0" marL="0">
              <a:buNone/>
            </a:pPr>
            <a:r>
              <a:rPr lang="en-US" sz="1300" b="1" dirty="0">
                <a:solidFill>
                  <a:schemeClr val="bg2"/>
                </a:solidFill>
              </a:rPr>
              <a:t>INSERTE AQUÍ SU IMAGEN</a:t>
            </a:r>
            <a:endParaRPr lang="en-US" sz="1300" dirty="0"/>
          </a:p>
          <a:p>
            <a:pPr algn="ctr" indent="0" marL="0">
              <a:buNone/>
            </a:pPr>
            <a:r>
              <a:rPr lang="en-US" sz="1300" dirty="0">
                <a:solidFill>
                  <a:schemeClr val="bg2"/>
                </a:solidFill>
              </a:rPr>
              <a:t>Vista 3D final o Schedule</a:t>
            </a:r>
            <a:endParaRPr lang="en-US" sz="1300" dirty="0"/>
          </a:p>
        </p:txBody>
      </p:sp>
    </p:spTree>
  </p:cSld>
  <p:clrMapOvr>
    <a:masterClrMapping/>
  </p:clrMapOvr>
</p:sld>
</file>

<file path=ppt/theme/theme1.xml><?xml version="1.0" encoding="utf-8"?>
<a:theme xmlns:a="http://schemas.openxmlformats.org/drawingml/2006/main" name="P89 Concreto">
  <a:themeElements>
    <a:clrScheme name="P89 Concreto">
      <a:dk1>
        <a:srgbClr val="1F2A30"/>
      </a:dk1>
      <a:lt1>
        <a:srgbClr val="FFFFFF"/>
      </a:lt1>
      <a:dk2>
        <a:srgbClr val="37474F"/>
      </a:dk2>
      <a:lt2>
        <a:srgbClr val="EEF1F3"/>
      </a:lt2>
      <a:accent1>
        <a:srgbClr val="E8711A"/>
      </a:accent1>
      <a:accent2>
        <a:srgbClr val="1F77B4"/>
      </a:accent2>
      <a:accent3>
        <a:srgbClr val="2CA02C"/>
      </a:accent3>
      <a:accent4>
        <a:srgbClr val="8C8C8C"/>
      </a:accent4>
      <a:accent5>
        <a:srgbClr val="D62728"/>
      </a:accent5>
      <a:accent6>
        <a:srgbClr val="F0C850"/>
      </a:accent6>
      <a:hlink>
        <a:srgbClr val="1F77B4"/>
      </a:hlink>
      <a:folHlink>
        <a:srgbClr val="6D4C41"/>
      </a:folHlink>
    </a:clrScheme>
    <a:fontScheme name="P89 Concret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3 - BIM Parametrizacion</dc:title>
  <dc:subject>PptxGenJS Presentation</dc:subject>
  <dc:creator>Luis David Arroyo Anaya</dc:creator>
  <cp:lastModifiedBy>Luis David Arroyo Anaya</cp:lastModifiedBy>
  <cp:revision>1</cp:revision>
  <dcterms:created xsi:type="dcterms:W3CDTF">2026-10-10T15:46:31Z</dcterms:created>
  <dcterms:modified xsi:type="dcterms:W3CDTF">2026-10-10T15:46:31Z</dcterms:modified>
</cp:coreProperties>
</file>